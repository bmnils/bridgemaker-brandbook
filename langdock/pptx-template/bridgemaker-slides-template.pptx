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Ziel und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Hairline-Kolumnen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Content-Infografik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Device-Mockup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Zahlen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Principle-Zeilen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Gegenüberstellung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Objekt-Karten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Nummerierte Objekt-Karten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Tabelle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Roadmap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Zitat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Schluss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641600" y="905933"/>
            <a:ext cx="7335519" cy="220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812800"/>
            <a:ext cx="1634066" cy="20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320" y="838199"/>
            <a:ext cx="1029546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A8A69E"/>
                </a:solidFill>
                <a:latin typeface="JetBrains Mono"/>
              </a:rPr>
              <a:t>[ Kundenlogo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2398606"/>
            <a:ext cx="7508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A8A69E"/>
                </a:solidFill>
                <a:latin typeface="Inter"/>
              </a:rPr>
              <a:t>KUNDE × BRIDGEMAKER — ANLASS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2744046"/>
            <a:ext cx="7508239" cy="17407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0" i="0">
                <a:solidFill>
                  <a:srgbClr val="F5F1EB"/>
                </a:solidFill>
                <a:latin typeface="Inter"/>
              </a:rPr>
              <a:t>Titel des Decks über</a:t>
            </a:r>
          </a:p>
          <a:p>
            <a:r>
              <a:rPr sz="6400" b="0" i="0">
                <a:solidFill>
                  <a:srgbClr val="F5F1EB"/>
                </a:solidFill>
                <a:latin typeface="Inter"/>
              </a:rPr>
              <a:t>maximal zwei Zeilen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5850466"/>
            <a:ext cx="230970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A8A69E"/>
                </a:solidFill>
                <a:latin typeface="Inter"/>
              </a:rPr>
              <a:t>Gemeinsamer Arbeitsstand, 17.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739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66933" y="2739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353568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353568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43315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66933" y="43315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5999" y="389466"/>
            <a:ext cx="51900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Der Ablauf für heute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29260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866" y="2900680"/>
            <a:ext cx="117686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Punkt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7866" y="3171613"/>
            <a:ext cx="117686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6933" y="29260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8799" y="2900680"/>
            <a:ext cx="117686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Vierter Punkt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8799" y="3171613"/>
            <a:ext cx="117686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5999" y="3721946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7866" y="3696546"/>
            <a:ext cx="117686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Punkt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7866" y="3967480"/>
            <a:ext cx="117686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6933" y="3721946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799" y="3696546"/>
            <a:ext cx="117686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Fünfter Punkt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8799" y="3967480"/>
            <a:ext cx="117686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99" y="4517813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7866" y="4492413"/>
            <a:ext cx="117686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Punkt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7866" y="4763346"/>
            <a:ext cx="117686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6933" y="4517813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8799" y="4492413"/>
            <a:ext cx="1228513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Sechster Punkt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8799" y="4763346"/>
            <a:ext cx="1228513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7144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5999" y="330369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389297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27144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66933" y="351028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66933" y="43061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66933" y="51020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99" y="389466"/>
            <a:ext cx="110151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ZIEL UND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795866"/>
            <a:ext cx="8500533" cy="9685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Heute priorisieren wir A und entscheiden über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2419773"/>
            <a:ext cx="48429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IHR ENTSCHEIDET HEUTE ÜBER DREI PUNKTE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5999" y="29006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7866" y="2875280"/>
            <a:ext cx="2153073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Entscheidungspunkt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99" y="3489959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7866" y="3464559"/>
            <a:ext cx="2280073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Entscheidungspunkt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5999" y="407924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7866" y="4053840"/>
            <a:ext cx="2181013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Entscheidungspunkt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6933" y="2419773"/>
            <a:ext cx="48429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ABLAUF IN VIER KAPITELN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6933" y="29006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799" y="2875280"/>
            <a:ext cx="170518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Erstes Kapitel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8799" y="3146213"/>
            <a:ext cx="170518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6933" y="3696546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8799" y="3671146"/>
            <a:ext cx="170518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Zweites Kapitel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8799" y="3942080"/>
            <a:ext cx="170518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6933" y="4492413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8799" y="4467013"/>
            <a:ext cx="170518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Drittes Kapitel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8799" y="4737946"/>
            <a:ext cx="170518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6933" y="52882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8799" y="5262880"/>
            <a:ext cx="170518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Viertes Kapitel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8799" y="5533813"/>
            <a:ext cx="170518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9506" y="4588933"/>
            <a:ext cx="1610359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26973" y="4588933"/>
            <a:ext cx="1982893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673" y="4588933"/>
            <a:ext cx="1970193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0726" y="4588933"/>
            <a:ext cx="200914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84546" y="4588933"/>
            <a:ext cx="192532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38133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60266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795866"/>
            <a:ext cx="8331199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Aussage der Slide als ganzer 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2771986"/>
            <a:ext cx="156633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9333" y="2784686"/>
            <a:ext cx="186266" cy="1862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6B6B65"/>
                </a:solidFill>
                <a:latin typeface="Inter"/>
              </a:rPr>
              <a:t>arrow_forward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3085253"/>
            <a:ext cx="3149600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Punkt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3457786"/>
            <a:ext cx="3149600" cy="46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tragen: als Fließtext, nicht als Halbzeilen.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4026746"/>
            <a:ext cx="3149600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Weiterer Absatz nur, wenn er etwas Neues sagt.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8133" y="2771986"/>
            <a:ext cx="18118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1466" y="2784686"/>
            <a:ext cx="186266" cy="1862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6B6B65"/>
                </a:solidFill>
                <a:latin typeface="Inter"/>
              </a:rPr>
              <a:t>arrow_forward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8133" y="3085253"/>
            <a:ext cx="3149600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Punkt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8133" y="3457786"/>
            <a:ext cx="3149600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0266" y="2771986"/>
            <a:ext cx="182033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23600" y="2784686"/>
            <a:ext cx="186266" cy="1862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6B6B65"/>
                </a:solidFill>
                <a:latin typeface="Inter"/>
              </a:rPr>
              <a:t>arrow_forward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0266" y="3085253"/>
            <a:ext cx="3149600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Punkt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0266" y="3457786"/>
            <a:ext cx="3149600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6933" y="4836160"/>
            <a:ext cx="89069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4A2D6B"/>
                </a:solidFill>
                <a:latin typeface="Inter"/>
              </a:rPr>
              <a:t>DAS ERGEBNIS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726" y="4785360"/>
            <a:ext cx="262720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1" i="0">
                <a:solidFill>
                  <a:srgbClr val="4A2D6B"/>
                </a:solidFill>
                <a:latin typeface="Inter"/>
              </a:rPr>
              <a:t>Der Satz, der aus den drei Punkten folgt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590713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5999" y="4095326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4591473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5999" y="5087619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795866"/>
            <a:ext cx="6807199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Aussage der Slide als ganzer Satz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2762673"/>
            <a:ext cx="5723466" cy="5063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3D3D3A"/>
                </a:solidFill>
                <a:latin typeface="Inter"/>
              </a:rPr>
              <a:t>Lead-Absatz: die eine Botschaft dieser Slide, in zwei bis drei Sätzen.</a:t>
            </a:r>
          </a:p>
          <a:p>
            <a:r>
              <a:rPr sz="1200" b="0" i="0">
                <a:solidFill>
                  <a:srgbClr val="3D3D3A"/>
                </a:solidFill>
                <a:latin typeface="Inter"/>
              </a:rPr>
              <a:t>              Aktive Verben, belastbare Zahlen oder keine.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3717713"/>
            <a:ext cx="1117600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Erste Messgröße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4226" y="3717713"/>
            <a:ext cx="33697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4213860"/>
            <a:ext cx="1219200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Zweite Messgröße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4226" y="4213860"/>
            <a:ext cx="33697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99" y="4710006"/>
            <a:ext cx="114130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Dritte Messgröße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4226" y="4710006"/>
            <a:ext cx="33697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086100"/>
            <a:ext cx="384725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pic>
        <p:nvPicPr>
          <p:cNvPr id="4" name="Picture 3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573" y="3642359"/>
            <a:ext cx="1225973" cy="152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795866"/>
            <a:ext cx="8331199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Aussage der Slide als ganzer 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3213100"/>
            <a:ext cx="100076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VIER BAUSTEINE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3490806"/>
            <a:ext cx="3881119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Halber Satz, was er leistet.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3507740"/>
            <a:ext cx="10871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1" i="0">
                <a:solidFill>
                  <a:srgbClr val="3D3D3A"/>
                </a:solidFill>
                <a:latin typeface="Inter"/>
              </a:rPr>
              <a:t>Erster Baustein.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3843019"/>
            <a:ext cx="3881119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Halber Satz, was er leistet.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3859953"/>
            <a:ext cx="119464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1" i="0">
                <a:solidFill>
                  <a:srgbClr val="3D3D3A"/>
                </a:solidFill>
                <a:latin typeface="Inter"/>
              </a:rPr>
              <a:t>Zweiter Baustein.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4195233"/>
            <a:ext cx="3881119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Halber Satz, was er leistet.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5999" y="4212166"/>
            <a:ext cx="11125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1" i="0">
                <a:solidFill>
                  <a:srgbClr val="3D3D3A"/>
                </a:solidFill>
                <a:latin typeface="Inter"/>
              </a:rPr>
              <a:t>Dritter Baustein.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99" y="4547446"/>
            <a:ext cx="3881119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Halber Satz, was er leistet.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99" y="4564380"/>
            <a:ext cx="11506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1" i="0">
                <a:solidFill>
                  <a:srgbClr val="3D3D3A"/>
                </a:solidFill>
                <a:latin typeface="Inter"/>
              </a:rPr>
              <a:t>Vierter Baustein.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5119" y="5578686"/>
            <a:ext cx="580474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B65"/>
                </a:solidFill>
                <a:latin typeface="Inter"/>
              </a:rPr>
              <a:t>Bildunterschrift mit Inhalt, nicht mit Meta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402666" y="2995506"/>
            <a:ext cx="8466" cy="1327573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89333" y="2995506"/>
            <a:ext cx="8466" cy="1327573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Die drei Zahlen, die zählen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3046306"/>
            <a:ext cx="3081866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27,3 Mio.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3777826"/>
            <a:ext cx="308186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KENNZAHL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4021666"/>
            <a:ext cx="308186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9800" y="3046306"/>
            <a:ext cx="2734733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+8,2 %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800" y="3777826"/>
            <a:ext cx="27347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KENNZAHL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800" y="4021666"/>
            <a:ext cx="27347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6466" y="3046306"/>
            <a:ext cx="2734733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56 %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6466" y="3777826"/>
            <a:ext cx="27347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KENNZAHL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6466" y="4021666"/>
            <a:ext cx="27347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999" y="4712546"/>
            <a:ext cx="1019386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Quelle: … in einem Satz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99720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66933" y="299720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4136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4136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Vier Aspekte, ein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3141133"/>
            <a:ext cx="237066" cy="237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5886" y="3124200"/>
            <a:ext cx="109304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Aspekt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3496733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6933" y="3141133"/>
            <a:ext cx="237066" cy="237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0666" y="3124200"/>
            <a:ext cx="1219200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Aspekt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6933" y="3496733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99" y="4280746"/>
            <a:ext cx="237066" cy="237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query_stats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8793" y="4263813"/>
            <a:ext cx="1120140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Aspekt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5999" y="4636346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6933" y="4280746"/>
            <a:ext cx="237066" cy="237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rocket_launch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8239" y="4263813"/>
            <a:ext cx="1161626" cy="27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Vierter Aspekt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6933" y="4636346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248659"/>
            <a:ext cx="48768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99200" y="3248659"/>
            <a:ext cx="48768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795866"/>
            <a:ext cx="8331199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Zwei Seiten derselben Sache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3389206"/>
            <a:ext cx="95673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BLICKWINKEL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3466" y="3375659"/>
            <a:ext cx="203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D6B66"/>
                </a:solidFill>
                <a:latin typeface="Inter"/>
              </a:rPr>
              <a:t>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3680459"/>
            <a:ext cx="491066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Erster Punkt als ganzer Satz.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4032673"/>
            <a:ext cx="491066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Zweiter Punkt als ganzer Satz.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4384886"/>
            <a:ext cx="491066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Dritter Punkt als ganzer Satz.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9200" y="3389206"/>
            <a:ext cx="95080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BLICKWINKEL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6666" y="3375659"/>
            <a:ext cx="203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4A2D6B"/>
                </a:solidFill>
                <a:latin typeface="Inter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9200" y="3680459"/>
            <a:ext cx="491066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Erster Punkt als ganzer Satz.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4032673"/>
            <a:ext cx="491066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Zweiter Punkt als ganzer Satz.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9200" y="4384886"/>
            <a:ext cx="4910666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Dritter Punkt als ganzer Satz.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Vier Werkzeuge, ein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6933" y="2392680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ersten Dings in einer Zeile.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6933" y="3366346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8533" y="2392680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zweiten Dings in einer Zeile.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8533" y="3366346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6933" y="4289213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dritten Dings in einer Zeile.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6933" y="5262880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8533" y="4289213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vierten Dings in einer Zeile.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8533" y="5262880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795866"/>
            <a:ext cx="8500533" cy="9685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Vier Punkte, die jetzt aktiv gesteuert werden müssen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0">
                <a:solidFill>
                  <a:srgbClr val="4A2D6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3581399"/>
            <a:ext cx="2015066" cy="50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Punkt als ganzer 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4157133"/>
            <a:ext cx="2015066" cy="3894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 und belegen.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4614333"/>
            <a:ext cx="2015066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Indikator oder Beleg in einem Satz.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999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0">
                <a:solidFill>
                  <a:srgbClr val="1D6B66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9999" y="3581399"/>
            <a:ext cx="2015066" cy="50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Punkt als ganzer Satz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999" y="4157133"/>
            <a:ext cx="2015066" cy="3894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999" y="4614333"/>
            <a:ext cx="2015066" cy="3894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1">
                <a:solidFill>
                  <a:srgbClr val="3D3D3A"/>
                </a:solidFill>
                <a:latin typeface="Inter"/>
              </a:rPr>
              <a:t>„Wörtliches Zitat als Beleg." — Rolle, Kontext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81399"/>
            <a:ext cx="2015066" cy="50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Punkt als ganzer Satz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57133"/>
            <a:ext cx="2015066" cy="3894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1600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1600" y="3581399"/>
            <a:ext cx="2015066" cy="50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Vierter Punkt als ganzer Satz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1600" y="4157133"/>
            <a:ext cx="2015066" cy="3894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99" y="5511800"/>
            <a:ext cx="1019386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Quellen: … in einem Satz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155526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95506" y="3155526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01373" y="3155526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16253" y="3155526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3651673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95506" y="3651673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1373" y="3651673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16253" y="3651673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5999" y="4147820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95506" y="4147820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1373" y="4147820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16253" y="4147820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5999" y="4643966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95506" y="4643966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1373" y="4643966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16253" y="4643966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5999" y="389466"/>
            <a:ext cx="573193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02 / KPIS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Woran ihr uns messt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99" y="2788919"/>
            <a:ext cx="2013373" cy="3835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DIMENSION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5506" y="2788919"/>
            <a:ext cx="4640580" cy="3835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MESSGRÖSSE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1373" y="2788919"/>
            <a:ext cx="2248746" cy="3835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HEUTE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6253" y="2788919"/>
            <a:ext cx="1393613" cy="3835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ZIEL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5999" y="3138593"/>
            <a:ext cx="2013373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6B6B65"/>
                </a:solidFill>
                <a:latin typeface="Inter"/>
              </a:rPr>
              <a:t>Dimension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5506" y="3138593"/>
            <a:ext cx="4640580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Messgröße als ganzer Ausdruck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1373" y="3138593"/>
            <a:ext cx="2248746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6253" y="3138593"/>
            <a:ext cx="1393613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5999" y="3634740"/>
            <a:ext cx="2013373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6B6B65"/>
                </a:solidFill>
                <a:latin typeface="Inter"/>
              </a:rPr>
              <a:t>Dimension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06" y="3634740"/>
            <a:ext cx="4640580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Messgröße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1373" y="3634740"/>
            <a:ext cx="2248746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6253" y="3634740"/>
            <a:ext cx="1393613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99" y="4130886"/>
            <a:ext cx="2013373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6B6B65"/>
                </a:solidFill>
                <a:latin typeface="Inter"/>
              </a:rPr>
              <a:t>Dimension 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95506" y="4130886"/>
            <a:ext cx="4640580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Messgröße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1373" y="4130886"/>
            <a:ext cx="2248746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6253" y="4130886"/>
            <a:ext cx="1393613" cy="530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5999" y="4902200"/>
            <a:ext cx="1019386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Quelle: … in einem Satz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389466"/>
            <a:ext cx="774700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3213" y="6466839"/>
            <a:ext cx="904239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795866"/>
            <a:ext cx="8500533" cy="9685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Erst die Setup-Phase, dann die priorisierten Wellen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2277533"/>
            <a:ext cx="9177866" cy="18220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70" b="0" i="1">
                <a:solidFill>
                  <a:srgbClr val="F5F1EB"/>
                </a:solidFill>
                <a:latin typeface="Inter"/>
              </a:rPr>
              <a:t>„Ein Satz aus einem echten Gespräch, der die Slide trägt — wörtlich, nicht geglättet."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99" y="4404360"/>
            <a:ext cx="9177866" cy="1761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i="0">
                <a:solidFill>
                  <a:srgbClr val="A8A69E"/>
                </a:solidFill>
                <a:latin typeface="Inter"/>
              </a:rPr>
              <a:t>VORNAME, ROLLE — KONTEXT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966" y="2381673"/>
            <a:ext cx="1634066" cy="20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1700" y="3109806"/>
            <a:ext cx="7881619" cy="629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270" b="1" i="0">
                <a:solidFill>
                  <a:srgbClr val="F5F1EB"/>
                </a:solidFill>
                <a:latin typeface="Inter"/>
              </a:rPr>
              <a:t>Startklar, sobald ihr das Go gebt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5333" y="4247726"/>
            <a:ext cx="2235200" cy="2506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70" b="0" i="0">
                <a:solidFill>
                  <a:srgbClr val="F5F1EB"/>
                </a:solidFill>
                <a:latin typeface="Inter"/>
              </a:rPr>
              <a:t>Vorname Nachname, Rolle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5333" y="4498339"/>
            <a:ext cx="2235200" cy="2116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0" i="0">
                <a:solidFill>
                  <a:srgbClr val="AF94D2"/>
                </a:solidFill>
                <a:latin typeface="Inter"/>
              </a:rPr>
              <a:t>vorname.nachname@bridgemaker.com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