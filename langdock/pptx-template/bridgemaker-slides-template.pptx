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7999" type="screen4x3"/>
  <p:notesSz cx="6858000" cy="9144000"/>
  <p:embeddedFontLst>
    <p:embeddedFont>
      <p:font typeface="Inter"/>
      <p:regular r:id="rIdFont1"/>
      <p:bold r:id="rIdFont2"/>
    </p:embeddedFont>
    <p:embeddedFont>
      <p:font typeface="Inter Light"/>
      <p:regular r:id="rIdFont3"/>
    </p:embeddedFont>
    <p:embeddedFont>
      <p:font typeface="Inter SemiBold"/>
      <p:regular r:id="rIdFont4"/>
    </p:embeddedFont>
    <p:embeddedFont>
      <p:font typeface="JetBrains Mono"/>
      <p:regular r:id="rIdFont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Ziel und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Hairline-Kolumnen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Content-Infografik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Device-Mockup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Zahlen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Principle-Zeilen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Gegenüberstellung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Nummerierte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Tabelle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Roadmap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Zitat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Schluss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3.png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812800"/>
            <a:ext cx="1634066" cy="20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2381673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A8A69E"/>
                </a:solidFill>
                <a:latin typeface="Inter SemiBold"/>
              </a:rPr>
              <a:t>KUNDE × BRIDGEMAKER — ANLASS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2676313"/>
            <a:ext cx="10193866" cy="18694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6720"/>
              </a:lnSpc>
            </a:pPr>
            <a:r>
              <a:rPr sz="6400" b="0" i="0" spc="-192">
                <a:solidFill>
                  <a:srgbClr val="F5F1EB"/>
                </a:solidFill>
                <a:latin typeface="Inter SemiBold"/>
              </a:rPr>
              <a:t>Titel des Decks über</a:t>
            </a:r>
          </a:p>
          <a:p>
            <a:pPr>
              <a:lnSpc>
                <a:spcPts val="6720"/>
              </a:lnSpc>
            </a:pPr>
            <a:r>
              <a:rPr sz="6400" b="0" i="0" spc="-192">
                <a:solidFill>
                  <a:srgbClr val="F5F1EB"/>
                </a:solidFill>
                <a:latin typeface="Inter SemiBold"/>
              </a:rPr>
              <a:t>maximal zwei Zeilen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5867400"/>
            <a:ext cx="10193866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A8A69E"/>
                </a:solidFill>
                <a:latin typeface="Inter"/>
              </a:rPr>
              <a:t>Gemeinsamer Arbeitsstand, 17. Juli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320" y="804333"/>
            <a:ext cx="1842346" cy="220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930"/>
              </a:lnSpc>
            </a:pPr>
            <a:r>
              <a:rPr sz="930" b="0" i="0">
                <a:solidFill>
                  <a:srgbClr val="A8A69E"/>
                </a:solidFill>
                <a:latin typeface="JetBrains Mono"/>
              </a:rPr>
              <a:t>[ Kundenlogo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66933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35272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35272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43400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400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Der Ablauf für heute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0166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8294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6422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7866" y="2900680"/>
            <a:ext cx="47074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7866" y="3713480"/>
            <a:ext cx="47074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7866" y="4526280"/>
            <a:ext cx="47074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6933" y="30166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6933" y="38294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6933" y="4642273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8799" y="2900680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Vierter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799" y="3713480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Fünfter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8799" y="4526280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Sechster Punkt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680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5999" y="34933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3061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2680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66933" y="34933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061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66933" y="51189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ZIEL UND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778933"/>
            <a:ext cx="10193866" cy="1000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Heute priorisieren wir A und entscheiden über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2368973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IHR ENTSCHEIDET HEUTE ÜBER DREI PUNKTE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29828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5999" y="37956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99" y="46084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7866" y="2972646"/>
            <a:ext cx="4707466" cy="2370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Erster Entscheidungspunkt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7866" y="3785446"/>
            <a:ext cx="4707466" cy="2370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Zweiter Entscheidungspunkt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7866" y="4598246"/>
            <a:ext cx="4707466" cy="2370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Dritter Entscheidungspunkt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6933" y="2368973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ABLAUF IN VIER KAPITELN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6933" y="29828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6933" y="37956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6933" y="46084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6933" y="5421206"/>
            <a:ext cx="4402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8799" y="2866813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Erstes Kapitel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8799" y="3679613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Zweites Kapitel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8799" y="4492413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Drittes Kapitel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8799" y="5305213"/>
            <a:ext cx="4301066" cy="448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Viertes Kapitel</a:t>
            </a:r>
          </a:p>
          <a:p>
            <a:pPr>
              <a:lnSpc>
                <a:spcPts val="1400"/>
              </a:lnSpc>
              <a:spcBef>
                <a:spcPts val="53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38319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3D3D3A"/>
                </a:solidFill>
                <a:latin typeface="Inter SemiBold"/>
              </a:rPr>
              <a:t>KAPITEL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666826"/>
            <a:ext cx="8481906" cy="12818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SemiBold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9506" y="4284133"/>
            <a:ext cx="1610360" cy="20827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1330"/>
              </a:lnSpc>
            </a:pPr>
            <a:r>
              <a:rPr sz="13330" b="0" i="0" spc="-533">
                <a:solidFill>
                  <a:srgbClr val="C5C0B8"/>
                </a:solidFill>
                <a:latin typeface="Inter Ligh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38319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3D3D3A"/>
                </a:solidFill>
                <a:latin typeface="Inter SemiBold"/>
              </a:rPr>
              <a:t>KAPITEL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666826"/>
            <a:ext cx="8109373" cy="12818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SemiBold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26973" y="4284133"/>
            <a:ext cx="1982893" cy="20827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1330"/>
              </a:lnSpc>
            </a:pPr>
            <a:r>
              <a:rPr sz="13330" b="0" i="0" spc="-533">
                <a:solidFill>
                  <a:srgbClr val="C5C0B8"/>
                </a:solidFill>
                <a:latin typeface="Inter Ligh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38319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3D3D3A"/>
                </a:solidFill>
                <a:latin typeface="Inter SemiBold"/>
              </a:rPr>
              <a:t>KAPITEL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666826"/>
            <a:ext cx="8122073" cy="12818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SemiBold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673" y="4284133"/>
            <a:ext cx="1970193" cy="20827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1330"/>
              </a:lnSpc>
            </a:pPr>
            <a:r>
              <a:rPr sz="13330" b="0" i="0" spc="-533">
                <a:solidFill>
                  <a:srgbClr val="C5C0B8"/>
                </a:solidFill>
                <a:latin typeface="Inter Light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38319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3D3D3A"/>
                </a:solidFill>
                <a:latin typeface="Inter SemiBold"/>
              </a:rPr>
              <a:t>KAPITEL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666826"/>
            <a:ext cx="8083126" cy="12818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SemiBold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0726" y="4284133"/>
            <a:ext cx="2009140" cy="20827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1330"/>
              </a:lnSpc>
            </a:pPr>
            <a:r>
              <a:rPr sz="13330" b="0" i="0" spc="-533">
                <a:solidFill>
                  <a:srgbClr val="C5C0B8"/>
                </a:solidFill>
                <a:latin typeface="Inter Ligh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38319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3D3D3A"/>
                </a:solidFill>
                <a:latin typeface="Inter SemiBold"/>
              </a:rPr>
              <a:t>KAPITEL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666826"/>
            <a:ext cx="8166946" cy="12818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SemiBold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4546" y="4284133"/>
            <a:ext cx="1925320" cy="20827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1330"/>
              </a:lnSpc>
            </a:pPr>
            <a:r>
              <a:rPr sz="13330" b="0" i="0" spc="-533">
                <a:solidFill>
                  <a:srgbClr val="C5C0B8"/>
                </a:solidFill>
                <a:latin typeface="Inter Light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x-0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333" y="2801619"/>
            <a:ext cx="152400" cy="152400"/>
          </a:xfrm>
          <a:prstGeom prst="rect">
            <a:avLst/>
          </a:prstGeom>
        </p:spPr>
      </p:pic>
      <p:pic>
        <p:nvPicPr>
          <p:cNvPr id="3" name="Picture 2" descr="pix-0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466" y="2801619"/>
            <a:ext cx="152400" cy="152400"/>
          </a:xfrm>
          <a:prstGeom prst="rect">
            <a:avLst/>
          </a:prstGeom>
        </p:spPr>
      </p:pic>
      <p:pic>
        <p:nvPicPr>
          <p:cNvPr id="4" name="Picture 3" descr="pix-08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600" y="2801619"/>
            <a:ext cx="152400" cy="152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15999" y="4599093"/>
            <a:ext cx="10160000" cy="623146"/>
          </a:xfrm>
          <a:prstGeom prst="roundRect">
            <a:avLst>
              <a:gd name="adj" fmla="val 24456"/>
            </a:avLst>
          </a:prstGeom>
          <a:solidFill>
            <a:srgbClr val="E3E0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38133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0266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Aussage der Slide als ganzer Satz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2788919"/>
            <a:ext cx="3420533" cy="1457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6B6B65"/>
                </a:solidFill>
                <a:latin typeface="Inter"/>
              </a:rPr>
              <a:t>01</a:t>
            </a:r>
          </a:p>
          <a:p>
            <a:pPr>
              <a:lnSpc>
                <a:spcPts val="1870"/>
              </a:lnSpc>
              <a:spcBef>
                <a:spcPts val="1330"/>
              </a:spcBef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Erster Punkt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tragen: als Fließtext, nicht als Halbzeilen.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Weiterer Absatz nur, wenn er etwas Neues sagt.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6933" y="4819226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4A2D6B"/>
                </a:solidFill>
                <a:latin typeface="Inter SemiBold"/>
              </a:rPr>
              <a:t>DAS ERGEBNIS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8133" y="2788919"/>
            <a:ext cx="2861733" cy="8889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6B6B65"/>
                </a:solidFill>
                <a:latin typeface="Inter"/>
              </a:rPr>
              <a:t>02</a:t>
            </a:r>
          </a:p>
          <a:p>
            <a:pPr>
              <a:lnSpc>
                <a:spcPts val="1870"/>
              </a:lnSpc>
              <a:spcBef>
                <a:spcPts val="1330"/>
              </a:spcBef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Zweiter Punkt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266" y="2788919"/>
            <a:ext cx="2861733" cy="8889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6B6B65"/>
                </a:solidFill>
                <a:latin typeface="Inter"/>
              </a:rPr>
              <a:t>03</a:t>
            </a:r>
          </a:p>
          <a:p>
            <a:pPr>
              <a:lnSpc>
                <a:spcPts val="1870"/>
              </a:lnSpc>
              <a:spcBef>
                <a:spcPts val="1330"/>
              </a:spcBef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Dritter Punkt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726" y="4802293"/>
            <a:ext cx="272880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 SemiBold"/>
              </a:rPr>
              <a:t>Der Satz, der aus den drei Punkten folgt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x-09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799" y="2455333"/>
            <a:ext cx="3251200" cy="295571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15999" y="359071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095326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5999" y="459147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5087619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Aussage der Slide als ganzer Satz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2788073"/>
            <a:ext cx="6807199" cy="4478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60"/>
              </a:lnSpc>
            </a:pPr>
            <a:r>
              <a:rPr sz="1200" b="0" i="0">
                <a:solidFill>
                  <a:srgbClr val="3D3D3A"/>
                </a:solidFill>
                <a:latin typeface="Inter"/>
              </a:rPr>
              <a:t>Lead-Absatz: die eine Botschaft dieser Slide, in zwei bis drei Sätzen. Aktive Verben, belastbare Zahlen oder keine.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734646"/>
            <a:ext cx="433662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Erste Messgröße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4230793"/>
            <a:ext cx="433662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Zweite Messgröße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726939"/>
            <a:ext cx="433662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Dritte Messgröße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4226" y="3734646"/>
            <a:ext cx="236897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4226" y="4230793"/>
            <a:ext cx="236897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4226" y="4726939"/>
            <a:ext cx="236897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08980" y="2129366"/>
            <a:ext cx="4963160" cy="3211406"/>
          </a:xfrm>
          <a:prstGeom prst="roundRect">
            <a:avLst>
              <a:gd name="adj" fmla="val 3796"/>
            </a:avLst>
          </a:prstGeom>
          <a:solidFill>
            <a:srgbClr val="1C1C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10580" y="2230966"/>
            <a:ext cx="4759960" cy="2974340"/>
          </a:xfrm>
          <a:prstGeom prst="roundRect">
            <a:avLst>
              <a:gd name="adj" fmla="val 1537"/>
            </a:avLst>
          </a:prstGeom>
          <a:solidFill>
            <a:srgbClr val="1C1C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pix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580" y="2230966"/>
            <a:ext cx="4759960" cy="2974340"/>
          </a:xfrm>
          <a:prstGeom prst="rect">
            <a:avLst/>
          </a:prstGeom>
        </p:spPr>
      </p:pic>
      <p:pic>
        <p:nvPicPr>
          <p:cNvPr id="5" name="Picture 4" descr="pix-10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353" y="5341619"/>
            <a:ext cx="5508413" cy="11853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15999" y="3086100"/>
            <a:ext cx="384725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wordmark-black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pic>
        <p:nvPicPr>
          <p:cNvPr id="8" name="Picture 7" descr="wordmark-whit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573" y="3642359"/>
            <a:ext cx="1225973" cy="15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Aussage der Slide als ganzer Satz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3196166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VIER BAUSTEINE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507740"/>
            <a:ext cx="4792980" cy="1259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Erster Baustein. Halber Satz, was er leistet.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Baustein. Halber Satz, was er leistet.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Baustein. Halber Satz, was er leistet.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Vierter Baustein. Halber Satz, was er leistet.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273" y="5578686"/>
            <a:ext cx="5805593" cy="1608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Bildunterschrift mit Inhalt, nicht mit Meta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402666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89333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Die drei Zahlen, die zählen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3012440"/>
            <a:ext cx="3632199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Light"/>
              </a:rPr>
              <a:t>27,3 Mio.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760893"/>
            <a:ext cx="3632199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KENNZAHL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4038599"/>
            <a:ext cx="3632199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9800" y="3012440"/>
            <a:ext cx="3285066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Light"/>
              </a:rPr>
              <a:t>+8,2 %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800" y="3760893"/>
            <a:ext cx="3285066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KENNZAHL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800" y="4038599"/>
            <a:ext cx="32850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6466" y="3012440"/>
            <a:ext cx="3073400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Light"/>
              </a:rPr>
              <a:t>56 %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6466" y="3760893"/>
            <a:ext cx="3886199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KENNZAHL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6466" y="4038599"/>
            <a:ext cx="3073400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200" y="4712546"/>
            <a:ext cx="11006666" cy="1608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x-1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866" y="3158066"/>
            <a:ext cx="203200" cy="203200"/>
          </a:xfrm>
          <a:prstGeom prst="rect">
            <a:avLst/>
          </a:prstGeom>
        </p:spPr>
      </p:pic>
      <p:pic>
        <p:nvPicPr>
          <p:cNvPr id="3" name="Picture 2" descr="pix-1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158066"/>
            <a:ext cx="203200" cy="203200"/>
          </a:xfrm>
          <a:prstGeom prst="rect">
            <a:avLst/>
          </a:prstGeom>
        </p:spPr>
      </p:pic>
      <p:pic>
        <p:nvPicPr>
          <p:cNvPr id="4" name="Picture 3" descr="pix-1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1866" y="4297680"/>
            <a:ext cx="203200" cy="203200"/>
          </a:xfrm>
          <a:prstGeom prst="rect">
            <a:avLst/>
          </a:prstGeom>
        </p:spPr>
      </p:pic>
      <p:pic>
        <p:nvPicPr>
          <p:cNvPr id="5" name="Picture 4" descr="pix-12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297680"/>
            <a:ext cx="203200" cy="20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15999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15999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66933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ordmark-black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Vier Aspekte, ein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3141133"/>
            <a:ext cx="4504266" cy="575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Erster Aspekt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5999" y="4280746"/>
            <a:ext cx="4504266" cy="575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Dritter Aspekt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6933" y="3141133"/>
            <a:ext cx="4504266" cy="575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Zweiter Aspekt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6933" y="4280746"/>
            <a:ext cx="4504266" cy="575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Vierter Aspekt</a:t>
            </a:r>
          </a:p>
          <a:p>
            <a:pPr>
              <a:lnSpc>
                <a:spcPts val="1710"/>
              </a:lnSpc>
              <a:spcBef>
                <a:spcPts val="133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x-13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466" y="3392593"/>
            <a:ext cx="169333" cy="169333"/>
          </a:xfrm>
          <a:prstGeom prst="rect">
            <a:avLst/>
          </a:prstGeom>
        </p:spPr>
      </p:pic>
      <p:pic>
        <p:nvPicPr>
          <p:cNvPr id="3" name="Picture 2" descr="pix-1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666" y="3392593"/>
            <a:ext cx="169333" cy="16933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15999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99200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Zwei Seiten derselben Sache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3372273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BLICKWINKEL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3697393"/>
            <a:ext cx="5181600" cy="9076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9200" y="3372273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BLICKWINKEL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9200" y="3697393"/>
            <a:ext cx="4910666" cy="9076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  <a:p>
            <a:pPr>
              <a:lnSpc>
                <a:spcPts val="1710"/>
              </a:lnSpc>
              <a:spcBef>
                <a:spcPts val="144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15999" y="2138680"/>
            <a:ext cx="4978400" cy="169333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97600" y="2138680"/>
            <a:ext cx="4978400" cy="169333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15999" y="4035213"/>
            <a:ext cx="4978400" cy="169333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97600" y="4035213"/>
            <a:ext cx="4978400" cy="1693333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Vier Werkzeuge, ein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6933" y="2401146"/>
            <a:ext cx="4572000" cy="543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2080"/>
              </a:lnSpc>
            </a:pPr>
            <a:r>
              <a:rPr sz="1600" b="0" i="0" spc="-33">
                <a:solidFill>
                  <a:srgbClr val="1C1C1E"/>
                </a:solidFill>
                <a:latin typeface="Inter SemiBold"/>
              </a:rPr>
              <a:t>Statement des ersten Dings in einer Zeile.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6933" y="4297680"/>
            <a:ext cx="4572000" cy="543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2080"/>
              </a:lnSpc>
            </a:pPr>
            <a:r>
              <a:rPr sz="1600" b="0" i="0" spc="-33">
                <a:solidFill>
                  <a:srgbClr val="1C1C1E"/>
                </a:solidFill>
                <a:latin typeface="Inter SemiBold"/>
              </a:rPr>
              <a:t>Statement des dritten Dings in einer Zeile.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2406" y="3383280"/>
            <a:ext cx="996526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3D3D3A"/>
                </a:solidFill>
                <a:latin typeface="Inter"/>
              </a:rPr>
              <a:t>Produktname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8173" y="5279813"/>
            <a:ext cx="1000760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3D3D3A"/>
                </a:solidFill>
                <a:latin typeface="Inter"/>
              </a:rPr>
              <a:t>Produktname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8533" y="2401146"/>
            <a:ext cx="4572000" cy="543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2080"/>
              </a:lnSpc>
            </a:pPr>
            <a:r>
              <a:rPr sz="1600" b="0" i="0" spc="-33">
                <a:solidFill>
                  <a:srgbClr val="1C1C1E"/>
                </a:solidFill>
                <a:latin typeface="Inter SemiBold"/>
              </a:rPr>
              <a:t>Statement des zweiten Dings in einer Zeile.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8533" y="4297680"/>
            <a:ext cx="4572000" cy="5435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2080"/>
              </a:lnSpc>
            </a:pPr>
            <a:r>
              <a:rPr sz="1600" b="0" i="0" spc="-33">
                <a:solidFill>
                  <a:srgbClr val="1C1C1E"/>
                </a:solidFill>
                <a:latin typeface="Inter SemiBold"/>
              </a:rPr>
              <a:t>Statement des vierten Dings in einer Zeile.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0620" y="5279813"/>
            <a:ext cx="999913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3D3D3A"/>
                </a:solidFill>
                <a:latin typeface="Inter"/>
              </a:rPr>
              <a:t>Produktname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48239" y="3383280"/>
            <a:ext cx="992293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400"/>
              </a:lnSpc>
            </a:pPr>
            <a:r>
              <a:rPr sz="930" b="0" i="0">
                <a:solidFill>
                  <a:srgbClr val="3D3D3A"/>
                </a:solidFill>
                <a:latin typeface="Inter"/>
              </a:rPr>
              <a:t>Produktname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15999" y="2663613"/>
            <a:ext cx="2387600" cy="2526453"/>
          </a:xfrm>
          <a:prstGeom prst="roundRect">
            <a:avLst>
              <a:gd name="adj" fmla="val 6382"/>
            </a:avLst>
          </a:prstGeom>
          <a:solidFill>
            <a:srgbClr val="E3E0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06799" y="2663613"/>
            <a:ext cx="2387600" cy="2526453"/>
          </a:xfrm>
          <a:prstGeom prst="roundRect">
            <a:avLst>
              <a:gd name="adj" fmla="val 6382"/>
            </a:avLst>
          </a:prstGeom>
          <a:solidFill>
            <a:srgbClr val="DDE4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97600" y="2663613"/>
            <a:ext cx="2387600" cy="2526453"/>
          </a:xfrm>
          <a:prstGeom prst="roundRect">
            <a:avLst>
              <a:gd name="adj" fmla="val 6382"/>
            </a:avLst>
          </a:prstGeom>
          <a:solidFill>
            <a:srgbClr val="E5E0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88400" y="2663613"/>
            <a:ext cx="2387600" cy="2526453"/>
          </a:xfrm>
          <a:prstGeom prst="roundRect">
            <a:avLst>
              <a:gd name="adj" fmla="val 6382"/>
            </a:avLst>
          </a:prstGeom>
          <a:solidFill>
            <a:srgbClr val="E8E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78933"/>
            <a:ext cx="10193866" cy="1000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Vier Punkte, die jetzt aktiv gesteuert werden müssen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816013"/>
            <a:ext cx="2048933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4A2D6B"/>
                </a:solidFill>
                <a:latin typeface="Inter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598333"/>
            <a:ext cx="2048933" cy="12107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Erster Punkt als ganzer Satz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 und belegen.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Indikator oder Beleg in einem Satz.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999" y="2816013"/>
            <a:ext cx="2048933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D6B66"/>
                </a:solidFill>
                <a:latin typeface="Inter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999" y="3598333"/>
            <a:ext cx="2048933" cy="13885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Zweiter Punkt als ganzer Satz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1">
                <a:solidFill>
                  <a:srgbClr val="3D3D3A"/>
                </a:solidFill>
                <a:latin typeface="Inter"/>
              </a:rPr>
              <a:t>„Wörtliches Zitat als Beleg." — Rolle, Kontext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16013"/>
            <a:ext cx="2048933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Ligh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98333"/>
            <a:ext cx="2048933" cy="9313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Dritter Punkt als ganzer Satz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816013"/>
            <a:ext cx="2048933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0" spc="-128">
                <a:solidFill>
                  <a:srgbClr val="1C1C1E"/>
                </a:solidFill>
                <a:latin typeface="Int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1600" y="3598333"/>
            <a:ext cx="2048933" cy="9313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870"/>
              </a:lnSpc>
            </a:pPr>
            <a:r>
              <a:rPr sz="1330" b="0" i="0" spc="-20">
                <a:solidFill>
                  <a:srgbClr val="1C1C1E"/>
                </a:solidFill>
                <a:latin typeface="Inter SemiBold"/>
              </a:rPr>
              <a:t>Vierter Punkt als ganzer Satz</a:t>
            </a:r>
          </a:p>
          <a:p>
            <a:pPr>
              <a:lnSpc>
                <a:spcPts val="1400"/>
              </a:lnSpc>
              <a:spcBef>
                <a:spcPts val="10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200" y="5511800"/>
            <a:ext cx="11006666" cy="1608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Quellen: … in einem Satz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155526"/>
            <a:ext cx="1693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09333" y="3155526"/>
            <a:ext cx="54186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999" y="3155526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52000" y="3155526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3651673"/>
            <a:ext cx="1693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09333" y="3651673"/>
            <a:ext cx="54186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27999" y="3651673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52000" y="3651673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5999" y="4147820"/>
            <a:ext cx="1693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09333" y="4147820"/>
            <a:ext cx="54186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7999" y="4147820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52000" y="4147820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5999" y="4643966"/>
            <a:ext cx="1693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09333" y="4643966"/>
            <a:ext cx="54186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999" y="4643966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52000" y="4643966"/>
            <a:ext cx="15240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02 /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99" y="778933"/>
            <a:ext cx="10193866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Woran ihr uns messt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99" y="2873586"/>
            <a:ext cx="15917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DIMENSION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99" y="3295226"/>
            <a:ext cx="159173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6B6B65"/>
                </a:solidFill>
                <a:latin typeface="Inter"/>
              </a:rPr>
              <a:t>Dimension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99" y="3791373"/>
            <a:ext cx="159173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6B6B65"/>
                </a:solidFill>
                <a:latin typeface="Inter"/>
              </a:rPr>
              <a:t>Dimension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99" y="4287519"/>
            <a:ext cx="1591733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6B6B65"/>
                </a:solidFill>
                <a:latin typeface="Inter"/>
              </a:rPr>
              <a:t>Dimension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9333" y="2873586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MESSGRÖSSE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9333" y="3295226"/>
            <a:ext cx="53170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Messgröße als ganzer Ausdruck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9333" y="3791373"/>
            <a:ext cx="53170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9333" y="4287519"/>
            <a:ext cx="53170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99" y="2873586"/>
            <a:ext cx="14224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HEUTE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7999" y="3295226"/>
            <a:ext cx="1422400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7999" y="3791373"/>
            <a:ext cx="1422400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7999" y="4287519"/>
            <a:ext cx="1422400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2000" y="2873586"/>
            <a:ext cx="2370666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ZIEL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2000" y="3295226"/>
            <a:ext cx="15578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2000" y="3791373"/>
            <a:ext cx="15578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2000" y="4287519"/>
            <a:ext cx="15578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1710"/>
              </a:lnSpc>
            </a:pPr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200" y="4902200"/>
            <a:ext cx="11006666" cy="1608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x-17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2770293"/>
            <a:ext cx="10160000" cy="2794000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372533"/>
            <a:ext cx="4775200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6B6B65"/>
                </a:solidFill>
                <a:latin typeface="Inter SemiBold"/>
              </a:rPr>
              <a:t>01 / KAPITEL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778933"/>
            <a:ext cx="10193866" cy="10007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3679"/>
              </a:lnSpc>
            </a:pPr>
            <a:r>
              <a:rPr sz="3200" b="0" i="0" spc="-80">
                <a:solidFill>
                  <a:srgbClr val="1C1C1E"/>
                </a:solidFill>
                <a:latin typeface="Inter SemiBold"/>
              </a:rPr>
              <a:t>Erst die Setup-Phase, dann die priorisierten Wellen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49906"/>
            <a:ext cx="3928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>
                <a:solidFill>
                  <a:srgbClr val="1C1C1E"/>
                </a:solidFill>
                <a:latin typeface="Inter SemiBold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4133" y="6478693"/>
            <a:ext cx="575733" cy="2099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ts val="1120"/>
              </a:lnSpc>
            </a:pPr>
            <a:r>
              <a:rPr sz="800" b="0" i="0">
                <a:solidFill>
                  <a:srgbClr val="6B6B6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2243666"/>
            <a:ext cx="10193866" cy="18779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ts val="4690"/>
              </a:lnSpc>
            </a:pPr>
            <a:r>
              <a:rPr sz="4270" b="0" i="1" spc="-128">
                <a:solidFill>
                  <a:srgbClr val="F5F1EB"/>
                </a:solidFill>
                <a:latin typeface="Inter SemiBold"/>
              </a:rPr>
              <a:t>„Ein Satz aus einem echten Gespräch, der die Slide trägt — wörtlich, nicht geglättet."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4387426"/>
            <a:ext cx="4436533" cy="1947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lnSpc>
                <a:spcPts val="1120"/>
              </a:lnSpc>
            </a:pPr>
            <a:r>
              <a:rPr sz="800" b="0" i="0" spc="80">
                <a:solidFill>
                  <a:srgbClr val="A8A69E"/>
                </a:solidFill>
                <a:latin typeface="Inter SemiBold"/>
              </a:rPr>
              <a:t>VORNAME, ROLLE — KONTEXT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966" y="2273300"/>
            <a:ext cx="1634066" cy="20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153" y="2967566"/>
            <a:ext cx="10194713" cy="685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ts val="4690"/>
              </a:lnSpc>
            </a:pPr>
            <a:r>
              <a:rPr sz="4270" b="0" i="0" spc="-128">
                <a:solidFill>
                  <a:srgbClr val="F5F1EB"/>
                </a:solidFill>
                <a:latin typeface="Inter SemiBold"/>
              </a:rPr>
              <a:t>Startklar, sobald ihr das Go gebt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406900"/>
            <a:ext cx="10193866" cy="177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ts val="1400"/>
              </a:lnSpc>
            </a:pPr>
            <a:r>
              <a:rPr sz="930" b="0" i="0">
                <a:solidFill>
                  <a:srgbClr val="AF94D2"/>
                </a:solidFill>
                <a:latin typeface="Inter"/>
              </a:rPr>
              <a:t>vorname.nachname@bridgemaker.com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4156286"/>
            <a:ext cx="10193866" cy="20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ts val="1710"/>
              </a:lnSpc>
            </a:pPr>
            <a:r>
              <a:rPr sz="1070" b="0" i="0">
                <a:solidFill>
                  <a:srgbClr val="F5F1EB"/>
                </a:solidFill>
                <a:latin typeface="Inter"/>
              </a:rPr>
              <a:t>Vorname Nachname, Rolle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