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</p:sldIdLst>
  <p:sldSz cx="12192000" cy="6857999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Layout: Cover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Layout: Agenda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Layout: Ziel und Agenda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Layout: Kapiteltrenner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Layout: Kapiteltrenner 02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Layout: Kapiteltrenner 03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Layout: Kapiteltrenner 04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Layout: Kapiteltrenner 05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Layout: Hairline-Kolumnen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Layout: Content-Infografik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Layout: Device-Mockup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Layout: Zahlen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Layout: Principle-Zeilen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Layout: Gegenüberstellung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Layout: Objekt-Karten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Layout: Nummerierte Objekt-Karten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Layout: Tabelle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Layout: Roadmap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Layout: Zitat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Layout: Schluss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-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7999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2641600" y="905933"/>
            <a:ext cx="7335519" cy="2201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wordmark-white-cr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5999" y="812800"/>
            <a:ext cx="1634066" cy="203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15999" y="2398606"/>
            <a:ext cx="7508239" cy="176106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800" b="0" i="0">
                <a:solidFill>
                  <a:srgbClr val="A8A69E"/>
                </a:solidFill>
                <a:latin typeface="Inter"/>
              </a:rPr>
              <a:t>KUNDE × BRIDGEMAKER — ANLASS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15999" y="2744046"/>
            <a:ext cx="7508239" cy="1740746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6400" b="0" i="0">
                <a:solidFill>
                  <a:srgbClr val="F5F1EB"/>
                </a:solidFill>
                <a:latin typeface="Inter"/>
              </a:rPr>
              <a:t>Titel des Decks über</a:t>
            </a:r>
          </a:p>
          <a:p>
            <a:r>
              <a:rPr sz="6400" b="0" i="0">
                <a:solidFill>
                  <a:srgbClr val="F5F1EB"/>
                </a:solidFill>
                <a:latin typeface="Inter"/>
              </a:rPr>
              <a:t>maximal zwei Zeilen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5999" y="5850466"/>
            <a:ext cx="2309706" cy="211666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930" b="0" i="0">
                <a:solidFill>
                  <a:srgbClr val="A8A69E"/>
                </a:solidFill>
                <a:latin typeface="Inter"/>
              </a:rPr>
              <a:t>Gemeinsamer Arbeitsstand, 17. Juli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80320" y="838199"/>
            <a:ext cx="1842346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930" b="0" i="0">
                <a:solidFill>
                  <a:srgbClr val="A8A69E"/>
                </a:solidFill>
                <a:latin typeface="JetBrains Mono"/>
              </a:rPr>
              <a:t>[ Kundenlogo 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15999" y="2739813"/>
            <a:ext cx="4809066" cy="8466"/>
          </a:xfrm>
          <a:prstGeom prst="rect">
            <a:avLst/>
          </a:prstGeom>
          <a:solidFill>
            <a:srgbClr val="C5C0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366933" y="2739813"/>
            <a:ext cx="4809066" cy="8466"/>
          </a:xfrm>
          <a:prstGeom prst="rect">
            <a:avLst/>
          </a:prstGeom>
          <a:solidFill>
            <a:srgbClr val="C5C0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15999" y="3535680"/>
            <a:ext cx="4809066" cy="8466"/>
          </a:xfrm>
          <a:prstGeom prst="rect">
            <a:avLst/>
          </a:prstGeom>
          <a:solidFill>
            <a:srgbClr val="C5C0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366933" y="3535680"/>
            <a:ext cx="4809066" cy="8466"/>
          </a:xfrm>
          <a:prstGeom prst="rect">
            <a:avLst/>
          </a:prstGeom>
          <a:solidFill>
            <a:srgbClr val="C5C0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5999" y="4331546"/>
            <a:ext cx="4809066" cy="8466"/>
          </a:xfrm>
          <a:prstGeom prst="rect">
            <a:avLst/>
          </a:prstGeom>
          <a:solidFill>
            <a:srgbClr val="C5C0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366933" y="4331546"/>
            <a:ext cx="4809066" cy="8466"/>
          </a:xfrm>
          <a:prstGeom prst="rect">
            <a:avLst/>
          </a:prstGeom>
          <a:solidFill>
            <a:srgbClr val="C5C0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wordmark-black-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5999" y="6495626"/>
            <a:ext cx="953346" cy="11853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15999" y="389466"/>
            <a:ext cx="4775200" cy="176106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800" b="0" i="0">
                <a:solidFill>
                  <a:srgbClr val="6B6B65"/>
                </a:solidFill>
                <a:latin typeface="Inter"/>
              </a:rPr>
              <a:t>AGENDA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5999" y="795866"/>
            <a:ext cx="10193866" cy="501226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3200" b="1" i="0">
                <a:solidFill>
                  <a:srgbClr val="1C1C1E"/>
                </a:solidFill>
                <a:latin typeface="Inter"/>
              </a:rPr>
              <a:t>Der Ablauf für heute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5999" y="2926080"/>
            <a:ext cx="372533" cy="25061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1070" b="0" i="0">
                <a:solidFill>
                  <a:srgbClr val="1C1C1E"/>
                </a:solidFill>
                <a:latin typeface="Inter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5999" y="3721946"/>
            <a:ext cx="372533" cy="25061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1070" b="0" i="0">
                <a:solidFill>
                  <a:srgbClr val="1C1C1E"/>
                </a:solidFill>
                <a:latin typeface="Inter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5999" y="4517813"/>
            <a:ext cx="372533" cy="25061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1070" b="0" i="0">
                <a:solidFill>
                  <a:srgbClr val="1C1C1E"/>
                </a:solidFill>
                <a:latin typeface="Inter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7866" y="2900680"/>
            <a:ext cx="1176866" cy="482599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1330" b="0" i="0">
                <a:solidFill>
                  <a:srgbClr val="1C1C1E"/>
                </a:solidFill>
                <a:latin typeface="Inter"/>
              </a:rPr>
              <a:t>Erster Punkt</a:t>
            </a:r>
          </a:p>
          <a:p>
            <a:pPr>
              <a:spcBef>
                <a:spcPts val="270"/>
              </a:spcBef>
            </a:pPr>
            <a:r>
              <a:rPr sz="930" b="0" i="0">
                <a:solidFill>
                  <a:srgbClr val="3D3D3A"/>
                </a:solidFill>
                <a:latin typeface="Inter"/>
              </a:rPr>
              <a:t>Ein halber Satz dazu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7866" y="3696546"/>
            <a:ext cx="1176866" cy="482599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1330" b="0" i="0">
                <a:solidFill>
                  <a:srgbClr val="1C1C1E"/>
                </a:solidFill>
                <a:latin typeface="Inter"/>
              </a:rPr>
              <a:t>Zweiter Punkt</a:t>
            </a:r>
          </a:p>
          <a:p>
            <a:pPr>
              <a:spcBef>
                <a:spcPts val="270"/>
              </a:spcBef>
            </a:pPr>
            <a:r>
              <a:rPr sz="930" b="0" i="0">
                <a:solidFill>
                  <a:srgbClr val="3D3D3A"/>
                </a:solidFill>
                <a:latin typeface="Inter"/>
              </a:rPr>
              <a:t>Ein halber Satz dazu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7866" y="4492413"/>
            <a:ext cx="1176866" cy="482599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1330" b="0" i="0">
                <a:solidFill>
                  <a:srgbClr val="1C1C1E"/>
                </a:solidFill>
                <a:latin typeface="Inter"/>
              </a:rPr>
              <a:t>Dritter Punkt</a:t>
            </a:r>
          </a:p>
          <a:p>
            <a:pPr>
              <a:spcBef>
                <a:spcPts val="270"/>
              </a:spcBef>
            </a:pPr>
            <a:r>
              <a:rPr sz="930" b="0" i="0">
                <a:solidFill>
                  <a:srgbClr val="3D3D3A"/>
                </a:solidFill>
                <a:latin typeface="Inter"/>
              </a:rPr>
              <a:t>Ein halber Satz dazu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03213" y="6466839"/>
            <a:ext cx="3928533" cy="176106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800" b="1" i="0">
                <a:solidFill>
                  <a:srgbClr val="1C1C1E"/>
                </a:solidFill>
                <a:latin typeface="Inter"/>
              </a:rPr>
              <a:t>Kunde Projekttitel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66933" y="2926080"/>
            <a:ext cx="372533" cy="25061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1070" b="0" i="0">
                <a:solidFill>
                  <a:srgbClr val="1C1C1E"/>
                </a:solidFill>
                <a:latin typeface="Inter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66933" y="3721946"/>
            <a:ext cx="372533" cy="25061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1070" b="0" i="0">
                <a:solidFill>
                  <a:srgbClr val="1C1C1E"/>
                </a:solidFill>
                <a:latin typeface="Inter"/>
              </a:rPr>
              <a:t>05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66933" y="4517813"/>
            <a:ext cx="372533" cy="25061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1070" b="0" i="0">
                <a:solidFill>
                  <a:srgbClr val="1C1C1E"/>
                </a:solidFill>
                <a:latin typeface="Inter"/>
              </a:rPr>
              <a:t>06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08799" y="2900680"/>
            <a:ext cx="1176866" cy="482599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1330" b="0" i="0">
                <a:solidFill>
                  <a:srgbClr val="1C1C1E"/>
                </a:solidFill>
                <a:latin typeface="Inter"/>
              </a:rPr>
              <a:t>Vierter Punkt</a:t>
            </a:r>
          </a:p>
          <a:p>
            <a:pPr>
              <a:spcBef>
                <a:spcPts val="270"/>
              </a:spcBef>
            </a:pPr>
            <a:r>
              <a:rPr sz="930" b="0" i="0">
                <a:solidFill>
                  <a:srgbClr val="3D3D3A"/>
                </a:solidFill>
                <a:latin typeface="Inter"/>
              </a:rPr>
              <a:t>Ein halber Satz dazu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08799" y="3696546"/>
            <a:ext cx="1176866" cy="482599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1330" b="0" i="0">
                <a:solidFill>
                  <a:srgbClr val="1C1C1E"/>
                </a:solidFill>
                <a:latin typeface="Inter"/>
              </a:rPr>
              <a:t>Fünfter Punkt</a:t>
            </a:r>
          </a:p>
          <a:p>
            <a:pPr>
              <a:spcBef>
                <a:spcPts val="270"/>
              </a:spcBef>
            </a:pPr>
            <a:r>
              <a:rPr sz="930" b="0" i="0">
                <a:solidFill>
                  <a:srgbClr val="3D3D3A"/>
                </a:solidFill>
                <a:latin typeface="Inter"/>
              </a:rPr>
              <a:t>Ein halber Satz dazu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08799" y="4492413"/>
            <a:ext cx="1228513" cy="482599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1330" b="0" i="0">
                <a:solidFill>
                  <a:srgbClr val="1C1C1E"/>
                </a:solidFill>
                <a:latin typeface="Inter"/>
              </a:rPr>
              <a:t>Sechster Punkt</a:t>
            </a:r>
          </a:p>
          <a:p>
            <a:pPr>
              <a:spcBef>
                <a:spcPts val="270"/>
              </a:spcBef>
            </a:pPr>
            <a:r>
              <a:rPr sz="930" b="0" i="0">
                <a:solidFill>
                  <a:srgbClr val="3D3D3A"/>
                </a:solidFill>
                <a:latin typeface="Inter"/>
              </a:rPr>
              <a:t>Ein halber Satz dazu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34133" y="6495626"/>
            <a:ext cx="575733" cy="176106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/>
            <a:r>
              <a:rPr sz="800" b="0" i="0">
                <a:solidFill>
                  <a:srgbClr val="6B6B65"/>
                </a:solidFill>
                <a:latin typeface="Inter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15999" y="2714413"/>
            <a:ext cx="4809066" cy="8466"/>
          </a:xfrm>
          <a:prstGeom prst="rect">
            <a:avLst/>
          </a:prstGeom>
          <a:solidFill>
            <a:srgbClr val="C5C0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15999" y="3303693"/>
            <a:ext cx="4809066" cy="8466"/>
          </a:xfrm>
          <a:prstGeom prst="rect">
            <a:avLst/>
          </a:prstGeom>
          <a:solidFill>
            <a:srgbClr val="C5C0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15999" y="3892973"/>
            <a:ext cx="4809066" cy="8466"/>
          </a:xfrm>
          <a:prstGeom prst="rect">
            <a:avLst/>
          </a:prstGeom>
          <a:solidFill>
            <a:srgbClr val="C5C0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366933" y="2714413"/>
            <a:ext cx="4809066" cy="8466"/>
          </a:xfrm>
          <a:prstGeom prst="rect">
            <a:avLst/>
          </a:prstGeom>
          <a:solidFill>
            <a:srgbClr val="C5C0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366933" y="3510280"/>
            <a:ext cx="4809066" cy="8466"/>
          </a:xfrm>
          <a:prstGeom prst="rect">
            <a:avLst/>
          </a:prstGeom>
          <a:solidFill>
            <a:srgbClr val="C5C0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366933" y="4306146"/>
            <a:ext cx="4809066" cy="8466"/>
          </a:xfrm>
          <a:prstGeom prst="rect">
            <a:avLst/>
          </a:prstGeom>
          <a:solidFill>
            <a:srgbClr val="C5C0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66933" y="5102013"/>
            <a:ext cx="4809066" cy="8466"/>
          </a:xfrm>
          <a:prstGeom prst="rect">
            <a:avLst/>
          </a:prstGeom>
          <a:solidFill>
            <a:srgbClr val="C5C0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wordmark-black-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5999" y="6495626"/>
            <a:ext cx="953346" cy="11853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015999" y="389466"/>
            <a:ext cx="4775200" cy="176106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800" b="0" i="0">
                <a:solidFill>
                  <a:srgbClr val="6B6B65"/>
                </a:solidFill>
                <a:latin typeface="Inter"/>
              </a:rPr>
              <a:t>ZIEL UND AGENDA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5999" y="795866"/>
            <a:ext cx="8500533" cy="968586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3200" b="1" i="0">
                <a:solidFill>
                  <a:srgbClr val="1C1C1E"/>
                </a:solidFill>
                <a:latin typeface="Inter"/>
              </a:rPr>
              <a:t>Heute priorisieren wir A und entscheiden über 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5999" y="2419773"/>
            <a:ext cx="4842933" cy="176106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800" b="0" i="0">
                <a:solidFill>
                  <a:srgbClr val="6B6B65"/>
                </a:solidFill>
                <a:latin typeface="Inter"/>
              </a:rPr>
              <a:t>IHR ENTSCHEIDET HEUTE ÜBER DREI PUNKTE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5999" y="2900680"/>
            <a:ext cx="372533" cy="25061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1070" b="0" i="0">
                <a:solidFill>
                  <a:srgbClr val="1C1C1E"/>
                </a:solidFill>
                <a:latin typeface="Inter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5999" y="3489959"/>
            <a:ext cx="372533" cy="25061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1070" b="0" i="0">
                <a:solidFill>
                  <a:srgbClr val="1C1C1E"/>
                </a:solidFill>
                <a:latin typeface="Inter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5999" y="4079240"/>
            <a:ext cx="372533" cy="25061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1070" b="0" i="0">
                <a:solidFill>
                  <a:srgbClr val="1C1C1E"/>
                </a:solidFill>
                <a:latin typeface="Inter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7866" y="2875280"/>
            <a:ext cx="2153073" cy="27093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1330" b="0" i="0">
                <a:solidFill>
                  <a:srgbClr val="1C1C1E"/>
                </a:solidFill>
                <a:latin typeface="Inter"/>
              </a:rPr>
              <a:t>Erster Entscheidungspunkt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7866" y="3464559"/>
            <a:ext cx="2280073" cy="27093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1330" b="0" i="0">
                <a:solidFill>
                  <a:srgbClr val="1C1C1E"/>
                </a:solidFill>
                <a:latin typeface="Inter"/>
              </a:rPr>
              <a:t>Zweiter Entscheidungspunkt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57866" y="4053840"/>
            <a:ext cx="2181013" cy="27093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1330" b="0" i="0">
                <a:solidFill>
                  <a:srgbClr val="1C1C1E"/>
                </a:solidFill>
                <a:latin typeface="Inter"/>
              </a:rPr>
              <a:t>Dritter Entscheidungspunkt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03213" y="6466839"/>
            <a:ext cx="3928533" cy="176106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800" b="1" i="0">
                <a:solidFill>
                  <a:srgbClr val="1C1C1E"/>
                </a:solidFill>
                <a:latin typeface="Inter"/>
              </a:rPr>
              <a:t>Kunde Projekttitel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66933" y="2419773"/>
            <a:ext cx="4842933" cy="176106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800" b="0" i="0">
                <a:solidFill>
                  <a:srgbClr val="6B6B65"/>
                </a:solidFill>
                <a:latin typeface="Inter"/>
              </a:rPr>
              <a:t>ABLAUF IN VIER KAPITELN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66933" y="2900680"/>
            <a:ext cx="372533" cy="25061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1070" b="0" i="0">
                <a:solidFill>
                  <a:srgbClr val="1C1C1E"/>
                </a:solidFill>
                <a:latin typeface="Inter"/>
              </a:rPr>
              <a:t>01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66933" y="3696546"/>
            <a:ext cx="372533" cy="25061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1070" b="0" i="0">
                <a:solidFill>
                  <a:srgbClr val="1C1C1E"/>
                </a:solidFill>
                <a:latin typeface="Inter"/>
              </a:rPr>
              <a:t>02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66933" y="4492413"/>
            <a:ext cx="372533" cy="25061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1070" b="0" i="0">
                <a:solidFill>
                  <a:srgbClr val="1C1C1E"/>
                </a:solidFill>
                <a:latin typeface="Inter"/>
              </a:rPr>
              <a:t>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66933" y="5288280"/>
            <a:ext cx="372533" cy="25061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1070" b="0" i="0">
                <a:solidFill>
                  <a:srgbClr val="1C1C1E"/>
                </a:solidFill>
                <a:latin typeface="Inter"/>
              </a:rPr>
              <a:t>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08799" y="2875280"/>
            <a:ext cx="1705186" cy="482599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1330" b="0" i="0">
                <a:solidFill>
                  <a:srgbClr val="1C1C1E"/>
                </a:solidFill>
                <a:latin typeface="Inter"/>
              </a:rPr>
              <a:t>Erstes Kapitel</a:t>
            </a:r>
          </a:p>
          <a:p>
            <a:pPr>
              <a:spcBef>
                <a:spcPts val="270"/>
              </a:spcBef>
            </a:pPr>
            <a:r>
              <a:rPr sz="930" b="0" i="0">
                <a:solidFill>
                  <a:srgbClr val="6B6B65"/>
                </a:solidFill>
                <a:latin typeface="Inter"/>
              </a:rPr>
              <a:t>Halber Satz, was hier passiert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08799" y="3671146"/>
            <a:ext cx="1705186" cy="482599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1330" b="0" i="0">
                <a:solidFill>
                  <a:srgbClr val="1C1C1E"/>
                </a:solidFill>
                <a:latin typeface="Inter"/>
              </a:rPr>
              <a:t>Zweites Kapitel</a:t>
            </a:r>
          </a:p>
          <a:p>
            <a:pPr>
              <a:spcBef>
                <a:spcPts val="270"/>
              </a:spcBef>
            </a:pPr>
            <a:r>
              <a:rPr sz="930" b="0" i="0">
                <a:solidFill>
                  <a:srgbClr val="6B6B65"/>
                </a:solidFill>
                <a:latin typeface="Inter"/>
              </a:rPr>
              <a:t>Halber Satz, was hier passiert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08799" y="4467013"/>
            <a:ext cx="1705186" cy="482599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1330" b="0" i="0">
                <a:solidFill>
                  <a:srgbClr val="1C1C1E"/>
                </a:solidFill>
                <a:latin typeface="Inter"/>
              </a:rPr>
              <a:t>Drittes Kapitel</a:t>
            </a:r>
          </a:p>
          <a:p>
            <a:pPr>
              <a:spcBef>
                <a:spcPts val="270"/>
              </a:spcBef>
            </a:pPr>
            <a:r>
              <a:rPr sz="930" b="0" i="0">
                <a:solidFill>
                  <a:srgbClr val="6B6B65"/>
                </a:solidFill>
                <a:latin typeface="Inter"/>
              </a:rPr>
              <a:t>Halber Satz, was hier passiert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08799" y="5262880"/>
            <a:ext cx="1705186" cy="482599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1330" b="0" i="0">
                <a:solidFill>
                  <a:srgbClr val="1C1C1E"/>
                </a:solidFill>
                <a:latin typeface="Inter"/>
              </a:rPr>
              <a:t>Viertes Kapitel</a:t>
            </a:r>
          </a:p>
          <a:p>
            <a:pPr>
              <a:spcBef>
                <a:spcPts val="270"/>
              </a:spcBef>
            </a:pPr>
            <a:r>
              <a:rPr sz="930" b="0" i="0">
                <a:solidFill>
                  <a:srgbClr val="6B6B65"/>
                </a:solidFill>
                <a:latin typeface="Inter"/>
              </a:rPr>
              <a:t>Halber Satz, was hier passiert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634133" y="6495626"/>
            <a:ext cx="575733" cy="176106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/>
            <a:r>
              <a:rPr sz="800" b="0" i="0">
                <a:solidFill>
                  <a:srgbClr val="6B6B65"/>
                </a:solidFill>
                <a:latin typeface="Inter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-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7999"/>
          </a:xfrm>
          <a:prstGeom prst="rect">
            <a:avLst/>
          </a:prstGeom>
        </p:spPr>
      </p:pic>
      <p:pic>
        <p:nvPicPr>
          <p:cNvPr id="3" name="Picture 2" descr="wordmark-black-cr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5999" y="6495626"/>
            <a:ext cx="953346" cy="1185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15999" y="4355253"/>
            <a:ext cx="7484533" cy="176106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800" b="0" i="0">
                <a:solidFill>
                  <a:srgbClr val="3D3D3A"/>
                </a:solidFill>
                <a:latin typeface="Inter"/>
              </a:rPr>
              <a:t>KAPITEL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15999" y="4700693"/>
            <a:ext cx="7484533" cy="122597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4270" b="1" i="0">
                <a:solidFill>
                  <a:srgbClr val="1C1C1E"/>
                </a:solidFill>
                <a:latin typeface="Inter"/>
              </a:rPr>
              <a:t>Eine Zeile, die das Kapitel trägt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03213" y="6466839"/>
            <a:ext cx="3928533" cy="176106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800" b="1" i="0">
                <a:solidFill>
                  <a:srgbClr val="1C1C1E"/>
                </a:solidFill>
                <a:latin typeface="Inter"/>
              </a:rPr>
              <a:t>Kunde Projekttitel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99506" y="4588933"/>
            <a:ext cx="1610359" cy="14732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13330" b="0" i="0">
                <a:solidFill>
                  <a:srgbClr val="C5C0B8"/>
                </a:solidFill>
                <a:latin typeface="Inter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34133" y="6495626"/>
            <a:ext cx="575733" cy="176106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/>
            <a:r>
              <a:rPr sz="800" b="0" i="0">
                <a:solidFill>
                  <a:srgbClr val="6B6B65"/>
                </a:solidFill>
                <a:latin typeface="Inter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-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7999"/>
          </a:xfrm>
          <a:prstGeom prst="rect">
            <a:avLst/>
          </a:prstGeom>
        </p:spPr>
      </p:pic>
      <p:pic>
        <p:nvPicPr>
          <p:cNvPr id="3" name="Picture 2" descr="wordmark-black-cr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5999" y="6495626"/>
            <a:ext cx="953346" cy="1185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15999" y="4355253"/>
            <a:ext cx="7484533" cy="176106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800" b="0" i="0">
                <a:solidFill>
                  <a:srgbClr val="3D3D3A"/>
                </a:solidFill>
                <a:latin typeface="Inter"/>
              </a:rPr>
              <a:t>KAPITEL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15999" y="4700693"/>
            <a:ext cx="7484533" cy="122597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4270" b="1" i="0">
                <a:solidFill>
                  <a:srgbClr val="1C1C1E"/>
                </a:solidFill>
                <a:latin typeface="Inter"/>
              </a:rPr>
              <a:t>Eine Zeile, die das Kapitel trägt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03213" y="6466839"/>
            <a:ext cx="3928533" cy="176106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800" b="1" i="0">
                <a:solidFill>
                  <a:srgbClr val="1C1C1E"/>
                </a:solidFill>
                <a:latin typeface="Inter"/>
              </a:rPr>
              <a:t>Kunde Projekttitel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226973" y="4588933"/>
            <a:ext cx="1982893" cy="14732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13330" b="0" i="0">
                <a:solidFill>
                  <a:srgbClr val="C5C0B8"/>
                </a:solidFill>
                <a:latin typeface="Inter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34133" y="6495626"/>
            <a:ext cx="575733" cy="176106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/>
            <a:r>
              <a:rPr sz="800" b="0" i="0">
                <a:solidFill>
                  <a:srgbClr val="6B6B65"/>
                </a:solidFill>
                <a:latin typeface="Inter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-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7999"/>
          </a:xfrm>
          <a:prstGeom prst="rect">
            <a:avLst/>
          </a:prstGeom>
        </p:spPr>
      </p:pic>
      <p:pic>
        <p:nvPicPr>
          <p:cNvPr id="3" name="Picture 2" descr="wordmark-black-cr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5999" y="6495626"/>
            <a:ext cx="953346" cy="1185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15999" y="4355253"/>
            <a:ext cx="7484533" cy="176106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800" b="0" i="0">
                <a:solidFill>
                  <a:srgbClr val="3D3D3A"/>
                </a:solidFill>
                <a:latin typeface="Inter"/>
              </a:rPr>
              <a:t>KAPITEL 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15999" y="4700693"/>
            <a:ext cx="7484533" cy="122597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4270" b="1" i="0">
                <a:solidFill>
                  <a:srgbClr val="1C1C1E"/>
                </a:solidFill>
                <a:latin typeface="Inter"/>
              </a:rPr>
              <a:t>Eine Zeile, die das Kapitel trägt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03213" y="6466839"/>
            <a:ext cx="3928533" cy="176106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800" b="1" i="0">
                <a:solidFill>
                  <a:srgbClr val="1C1C1E"/>
                </a:solidFill>
                <a:latin typeface="Inter"/>
              </a:rPr>
              <a:t>Kunde Projekttitel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239673" y="4588933"/>
            <a:ext cx="1970193" cy="14732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13330" b="0" i="0">
                <a:solidFill>
                  <a:srgbClr val="C5C0B8"/>
                </a:solidFill>
                <a:latin typeface="Inter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34133" y="6495626"/>
            <a:ext cx="575733" cy="176106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/>
            <a:r>
              <a:rPr sz="800" b="0" i="0">
                <a:solidFill>
                  <a:srgbClr val="6B6B65"/>
                </a:solidFill>
                <a:latin typeface="Inter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-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7999"/>
          </a:xfrm>
          <a:prstGeom prst="rect">
            <a:avLst/>
          </a:prstGeom>
        </p:spPr>
      </p:pic>
      <p:pic>
        <p:nvPicPr>
          <p:cNvPr id="3" name="Picture 2" descr="wordmark-black-cr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5999" y="6495626"/>
            <a:ext cx="953346" cy="1185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15999" y="4355253"/>
            <a:ext cx="7484533" cy="176106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800" b="0" i="0">
                <a:solidFill>
                  <a:srgbClr val="3D3D3A"/>
                </a:solidFill>
                <a:latin typeface="Inter"/>
              </a:rPr>
              <a:t>KAPITEL 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15999" y="4700693"/>
            <a:ext cx="7484533" cy="122597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4270" b="1" i="0">
                <a:solidFill>
                  <a:srgbClr val="1C1C1E"/>
                </a:solidFill>
                <a:latin typeface="Inter"/>
              </a:rPr>
              <a:t>Eine Zeile, die das Kapitel trägt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03213" y="6466839"/>
            <a:ext cx="3928533" cy="176106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800" b="1" i="0">
                <a:solidFill>
                  <a:srgbClr val="1C1C1E"/>
                </a:solidFill>
                <a:latin typeface="Inter"/>
              </a:rPr>
              <a:t>Kunde Projekttitel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200726" y="4588933"/>
            <a:ext cx="2009140" cy="14732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13330" b="0" i="0">
                <a:solidFill>
                  <a:srgbClr val="C5C0B8"/>
                </a:solidFill>
                <a:latin typeface="Inter"/>
              </a:rP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34133" y="6495626"/>
            <a:ext cx="575733" cy="176106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/>
            <a:r>
              <a:rPr sz="800" b="0" i="0">
                <a:solidFill>
                  <a:srgbClr val="6B6B65"/>
                </a:solidFill>
                <a:latin typeface="Inter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-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7999"/>
          </a:xfrm>
          <a:prstGeom prst="rect">
            <a:avLst/>
          </a:prstGeom>
        </p:spPr>
      </p:pic>
      <p:pic>
        <p:nvPicPr>
          <p:cNvPr id="3" name="Picture 2" descr="wordmark-black-cr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5999" y="6495626"/>
            <a:ext cx="953346" cy="1185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15999" y="4355253"/>
            <a:ext cx="7484533" cy="176106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800" b="0" i="0">
                <a:solidFill>
                  <a:srgbClr val="3D3D3A"/>
                </a:solidFill>
                <a:latin typeface="Inter"/>
              </a:rPr>
              <a:t>KAPITEL 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15999" y="4700693"/>
            <a:ext cx="7484533" cy="122597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4270" b="1" i="0">
                <a:solidFill>
                  <a:srgbClr val="1C1C1E"/>
                </a:solidFill>
                <a:latin typeface="Inter"/>
              </a:rPr>
              <a:t>Eine Zeile, die das Kapitel trägt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03213" y="6466839"/>
            <a:ext cx="3928533" cy="176106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800" b="1" i="0">
                <a:solidFill>
                  <a:srgbClr val="1C1C1E"/>
                </a:solidFill>
                <a:latin typeface="Inter"/>
              </a:rPr>
              <a:t>Kunde Projekttitel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284546" y="4588933"/>
            <a:ext cx="1925320" cy="14732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13330" b="0" i="0">
                <a:solidFill>
                  <a:srgbClr val="C5C0B8"/>
                </a:solidFill>
                <a:latin typeface="Inter"/>
              </a:rPr>
              <a:t>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34133" y="6495626"/>
            <a:ext cx="575733" cy="176106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/>
            <a:r>
              <a:rPr sz="800" b="0" i="0">
                <a:solidFill>
                  <a:srgbClr val="6B6B65"/>
                </a:solidFill>
                <a:latin typeface="Inter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15999" y="2644986"/>
            <a:ext cx="3115733" cy="8466"/>
          </a:xfrm>
          <a:prstGeom prst="rect">
            <a:avLst/>
          </a:prstGeom>
          <a:solidFill>
            <a:srgbClr val="C5C0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38133" y="2644986"/>
            <a:ext cx="3115733" cy="8466"/>
          </a:xfrm>
          <a:prstGeom prst="rect">
            <a:avLst/>
          </a:prstGeom>
          <a:solidFill>
            <a:srgbClr val="C5C0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060266" y="2644986"/>
            <a:ext cx="3115733" cy="8466"/>
          </a:xfrm>
          <a:prstGeom prst="rect">
            <a:avLst/>
          </a:prstGeom>
          <a:solidFill>
            <a:srgbClr val="C5C0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wordmark-black-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5999" y="6495626"/>
            <a:ext cx="953346" cy="11853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15999" y="389466"/>
            <a:ext cx="4775200" cy="176106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800" b="0" i="0">
                <a:solidFill>
                  <a:srgbClr val="6B6B65"/>
                </a:solidFill>
                <a:latin typeface="Inter"/>
              </a:rPr>
              <a:t>01 / KAPITEL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5999" y="795866"/>
            <a:ext cx="8331199" cy="501226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3200" b="1" i="0">
                <a:solidFill>
                  <a:srgbClr val="1C1C1E"/>
                </a:solidFill>
                <a:latin typeface="Inter"/>
              </a:rPr>
              <a:t>Aussage der Slide als ganzer Satz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5999" y="2771986"/>
            <a:ext cx="3149600" cy="150537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930" b="0" i="0">
                <a:solidFill>
                  <a:srgbClr val="6B6B65"/>
                </a:solidFill>
                <a:latin typeface="Inter"/>
              </a:rPr>
              <a:t>01</a:t>
            </a:r>
          </a:p>
          <a:p>
            <a:pPr>
              <a:spcBef>
                <a:spcPts val="1070"/>
              </a:spcBef>
            </a:pPr>
            <a:r>
              <a:rPr sz="1330" b="0" i="0">
                <a:solidFill>
                  <a:srgbClr val="1C1C1E"/>
                </a:solidFill>
                <a:latin typeface="Inter"/>
              </a:rPr>
              <a:t>Erster Punkt</a:t>
            </a:r>
          </a:p>
          <a:p>
            <a:pPr>
              <a:spcBef>
                <a:spcPts val="1070"/>
              </a:spcBef>
            </a:pPr>
            <a:r>
              <a:rPr sz="1070" b="0" i="0">
                <a:solidFill>
                  <a:srgbClr val="3D3D3A"/>
                </a:solidFill>
                <a:latin typeface="Inter"/>
              </a:rPr>
              <a:t>Zwei bis drei Sätze, die den Punkt tragen: als Fließtext, nicht als Halbzeilen.</a:t>
            </a:r>
          </a:p>
          <a:p>
            <a:pPr>
              <a:spcBef>
                <a:spcPts val="1070"/>
              </a:spcBef>
            </a:pPr>
            <a:r>
              <a:rPr sz="1070" b="0" i="0">
                <a:solidFill>
                  <a:srgbClr val="3D3D3A"/>
                </a:solidFill>
                <a:latin typeface="Inter"/>
              </a:rPr>
              <a:t>Weiterer Absatz nur, wenn er etwas Neues sagt.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6933" y="4836160"/>
            <a:ext cx="4436533" cy="176106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800" b="0" i="0">
                <a:solidFill>
                  <a:srgbClr val="4A2D6B"/>
                </a:solidFill>
                <a:latin typeface="Inter"/>
              </a:rPr>
              <a:t>DAS ERGEBNIS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03213" y="6466839"/>
            <a:ext cx="3928533" cy="176106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800" b="1" i="0">
                <a:solidFill>
                  <a:srgbClr val="1C1C1E"/>
                </a:solidFill>
                <a:latin typeface="Inter"/>
              </a:rPr>
              <a:t>Kunde Projekttitel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38133" y="2771986"/>
            <a:ext cx="3149600" cy="93641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930" b="0" i="0">
                <a:solidFill>
                  <a:srgbClr val="6B6B65"/>
                </a:solidFill>
                <a:latin typeface="Inter"/>
              </a:rPr>
              <a:t>02</a:t>
            </a:r>
          </a:p>
          <a:p>
            <a:pPr>
              <a:spcBef>
                <a:spcPts val="1070"/>
              </a:spcBef>
            </a:pPr>
            <a:r>
              <a:rPr sz="1330" b="0" i="0">
                <a:solidFill>
                  <a:srgbClr val="1C1C1E"/>
                </a:solidFill>
                <a:latin typeface="Inter"/>
              </a:rPr>
              <a:t>Zweiter Punkt</a:t>
            </a:r>
          </a:p>
          <a:p>
            <a:pPr>
              <a:spcBef>
                <a:spcPts val="1070"/>
              </a:spcBef>
            </a:pPr>
            <a:r>
              <a:rPr sz="1070" b="0" i="0">
                <a:solidFill>
                  <a:srgbClr val="3D3D3A"/>
                </a:solidFill>
                <a:latin typeface="Inter"/>
              </a:rPr>
              <a:t>Zwei bis drei Sätze, die den Punkt tragen.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60266" y="2771986"/>
            <a:ext cx="3149600" cy="93641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930" b="0" i="0">
                <a:solidFill>
                  <a:srgbClr val="6B6B65"/>
                </a:solidFill>
                <a:latin typeface="Inter"/>
              </a:rPr>
              <a:t>03</a:t>
            </a:r>
          </a:p>
          <a:p>
            <a:pPr>
              <a:spcBef>
                <a:spcPts val="1070"/>
              </a:spcBef>
            </a:pPr>
            <a:r>
              <a:rPr sz="1330" b="0" i="0">
                <a:solidFill>
                  <a:srgbClr val="1C1C1E"/>
                </a:solidFill>
                <a:latin typeface="Inter"/>
              </a:rPr>
              <a:t>Dritter Punkt</a:t>
            </a:r>
          </a:p>
          <a:p>
            <a:pPr>
              <a:spcBef>
                <a:spcPts val="1070"/>
              </a:spcBef>
            </a:pPr>
            <a:r>
              <a:rPr sz="1070" b="0" i="0">
                <a:solidFill>
                  <a:srgbClr val="3D3D3A"/>
                </a:solidFill>
                <a:latin typeface="Inter"/>
              </a:rPr>
              <a:t>Zwei bis drei Sätze, die den Punkt tragen.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11726" y="4785360"/>
            <a:ext cx="2627206" cy="25061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1070" b="1" i="0">
                <a:solidFill>
                  <a:srgbClr val="4A2D6B"/>
                </a:solidFill>
                <a:latin typeface="Inter"/>
              </a:rPr>
              <a:t>Der Satz, der aus den drei Punkten folgt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34133" y="6495626"/>
            <a:ext cx="575733" cy="176106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/>
            <a:r>
              <a:rPr sz="800" b="0" i="0">
                <a:solidFill>
                  <a:srgbClr val="6B6B65"/>
                </a:solidFill>
                <a:latin typeface="Inter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15999" y="3590713"/>
            <a:ext cx="4741333" cy="8466"/>
          </a:xfrm>
          <a:prstGeom prst="rect">
            <a:avLst/>
          </a:prstGeom>
          <a:solidFill>
            <a:srgbClr val="C5C0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15999" y="4095326"/>
            <a:ext cx="4741333" cy="8466"/>
          </a:xfrm>
          <a:prstGeom prst="rect">
            <a:avLst/>
          </a:prstGeom>
          <a:solidFill>
            <a:srgbClr val="C5C0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15999" y="4591473"/>
            <a:ext cx="4741333" cy="8466"/>
          </a:xfrm>
          <a:prstGeom prst="rect">
            <a:avLst/>
          </a:prstGeom>
          <a:solidFill>
            <a:srgbClr val="C5C0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15999" y="5087619"/>
            <a:ext cx="4741333" cy="8466"/>
          </a:xfrm>
          <a:prstGeom prst="rect">
            <a:avLst/>
          </a:prstGeom>
          <a:solidFill>
            <a:srgbClr val="C5C0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wordmark-black-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5999" y="6495626"/>
            <a:ext cx="953346" cy="11853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15999" y="389466"/>
            <a:ext cx="4775200" cy="176106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800" b="0" i="0">
                <a:solidFill>
                  <a:srgbClr val="6B6B65"/>
                </a:solidFill>
                <a:latin typeface="Inter"/>
              </a:rPr>
              <a:t>01 / KAPITEL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5999" y="795866"/>
            <a:ext cx="6807199" cy="501226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3200" b="1" i="0">
                <a:solidFill>
                  <a:srgbClr val="1C1C1E"/>
                </a:solidFill>
                <a:latin typeface="Inter"/>
              </a:rPr>
              <a:t>Aussage der Slide als ganzer Satz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5999" y="2762673"/>
            <a:ext cx="5723466" cy="506306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1200" b="0" i="0">
                <a:solidFill>
                  <a:srgbClr val="3D3D3A"/>
                </a:solidFill>
                <a:latin typeface="Inter"/>
              </a:rPr>
              <a:t>Lead-Absatz: die eine Botschaft dieser Slide, in zwei bis drei Sätzen.</a:t>
            </a:r>
          </a:p>
          <a:p>
            <a:r>
              <a:rPr sz="1200" b="0" i="0">
                <a:solidFill>
                  <a:srgbClr val="3D3D3A"/>
                </a:solidFill>
                <a:latin typeface="Inter"/>
              </a:rPr>
              <a:t>              Aktive Verben, belastbare Zahlen oder keine.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5999" y="3717713"/>
            <a:ext cx="1117600" cy="25061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1070" b="0" i="0">
                <a:solidFill>
                  <a:srgbClr val="1C1C1E"/>
                </a:solidFill>
                <a:latin typeface="Inter"/>
              </a:rPr>
              <a:t>Erste Messgröße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5999" y="4213860"/>
            <a:ext cx="1219200" cy="25061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1070" b="0" i="0">
                <a:solidFill>
                  <a:srgbClr val="1C1C1E"/>
                </a:solidFill>
                <a:latin typeface="Inter"/>
              </a:rPr>
              <a:t>Zweite Messgröße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5999" y="4710006"/>
            <a:ext cx="1141306" cy="25061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1070" b="0" i="0">
                <a:solidFill>
                  <a:srgbClr val="1C1C1E"/>
                </a:solidFill>
                <a:latin typeface="Inter"/>
              </a:rPr>
              <a:t>Dritte Messgröße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03213" y="6466839"/>
            <a:ext cx="3928533" cy="176106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800" b="1" i="0">
                <a:solidFill>
                  <a:srgbClr val="1C1C1E"/>
                </a:solidFill>
                <a:latin typeface="Inter"/>
              </a:rPr>
              <a:t>Kunde Projekttitel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54226" y="3717713"/>
            <a:ext cx="336973" cy="25061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1070" b="0" i="0">
                <a:solidFill>
                  <a:srgbClr val="4A2D6B"/>
                </a:solidFill>
                <a:latin typeface="Inter"/>
              </a:rPr>
              <a:t>Wert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54226" y="4213860"/>
            <a:ext cx="336973" cy="25061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1070" b="0" i="0">
                <a:solidFill>
                  <a:srgbClr val="4A2D6B"/>
                </a:solidFill>
                <a:latin typeface="Inter"/>
              </a:rPr>
              <a:t>Wert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54226" y="4710006"/>
            <a:ext cx="336973" cy="25061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1070" b="0" i="0">
                <a:solidFill>
                  <a:srgbClr val="4A2D6B"/>
                </a:solidFill>
                <a:latin typeface="Inter"/>
              </a:rPr>
              <a:t>Wert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34133" y="6495626"/>
            <a:ext cx="575733" cy="176106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/>
            <a:r>
              <a:rPr sz="800" b="0" i="0">
                <a:solidFill>
                  <a:srgbClr val="6B6B65"/>
                </a:solidFill>
                <a:latin typeface="Inter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15999" y="3086100"/>
            <a:ext cx="3847253" cy="8466"/>
          </a:xfrm>
          <a:prstGeom prst="rect">
            <a:avLst/>
          </a:prstGeom>
          <a:solidFill>
            <a:srgbClr val="C5C0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wordmark-black-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5999" y="6495626"/>
            <a:ext cx="953346" cy="118533"/>
          </a:xfrm>
          <a:prstGeom prst="rect">
            <a:avLst/>
          </a:prstGeom>
        </p:spPr>
      </p:pic>
      <p:pic>
        <p:nvPicPr>
          <p:cNvPr id="4" name="Picture 3" descr="wordmark-white-cr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77573" y="3642359"/>
            <a:ext cx="1225973" cy="152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15999" y="389466"/>
            <a:ext cx="4775200" cy="176106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800" b="0" i="0">
                <a:solidFill>
                  <a:srgbClr val="6B6B65"/>
                </a:solidFill>
                <a:latin typeface="Inter"/>
              </a:rPr>
              <a:t>01 / KAPITEL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15999" y="795866"/>
            <a:ext cx="8331199" cy="501226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3200" b="1" i="0">
                <a:solidFill>
                  <a:srgbClr val="1C1C1E"/>
                </a:solidFill>
                <a:latin typeface="Inter"/>
              </a:rPr>
              <a:t>Aussage der Slide als ganzer Satz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5999" y="3213100"/>
            <a:ext cx="4436533" cy="176106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800" b="0" i="0">
                <a:solidFill>
                  <a:srgbClr val="6B6B65"/>
                </a:solidFill>
                <a:latin typeface="Inter"/>
              </a:rPr>
              <a:t>VIER BAUSTEINE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5999" y="3490806"/>
            <a:ext cx="3881119" cy="130725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1070" b="0" i="0">
                <a:solidFill>
                  <a:srgbClr val="3D3D3A"/>
                </a:solidFill>
                <a:latin typeface="Inter"/>
              </a:rPr>
              <a:t>Erster Baustein. Halber Satz, was er leistet.</a:t>
            </a:r>
          </a:p>
          <a:p>
            <a:pPr>
              <a:spcBef>
                <a:spcPts val="1070"/>
              </a:spcBef>
            </a:pPr>
            <a:r>
              <a:rPr sz="1070" b="0" i="0">
                <a:solidFill>
                  <a:srgbClr val="3D3D3A"/>
                </a:solidFill>
                <a:latin typeface="Inter"/>
              </a:rPr>
              <a:t>Zweiter Baustein. Halber Satz, was er leistet.</a:t>
            </a:r>
          </a:p>
          <a:p>
            <a:pPr>
              <a:spcBef>
                <a:spcPts val="1070"/>
              </a:spcBef>
            </a:pPr>
            <a:r>
              <a:rPr sz="1070" b="0" i="0">
                <a:solidFill>
                  <a:srgbClr val="3D3D3A"/>
                </a:solidFill>
                <a:latin typeface="Inter"/>
              </a:rPr>
              <a:t>Dritter Baustein. Halber Satz, was er leistet.</a:t>
            </a:r>
          </a:p>
          <a:p>
            <a:pPr>
              <a:spcBef>
                <a:spcPts val="1070"/>
              </a:spcBef>
            </a:pPr>
            <a:r>
              <a:rPr sz="1070" b="0" i="0">
                <a:solidFill>
                  <a:srgbClr val="3D3D3A"/>
                </a:solidFill>
                <a:latin typeface="Inter"/>
              </a:rPr>
              <a:t>Vierter Baustein. Halber Satz, was er leistet.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03213" y="6466839"/>
            <a:ext cx="3928533" cy="176106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800" b="1" i="0">
                <a:solidFill>
                  <a:srgbClr val="1C1C1E"/>
                </a:solidFill>
                <a:latin typeface="Inter"/>
              </a:rPr>
              <a:t>Kunde Projekttitel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05119" y="5578686"/>
            <a:ext cx="5804746" cy="176106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ctr"/>
            <a:r>
              <a:rPr sz="800" b="0" i="0">
                <a:solidFill>
                  <a:srgbClr val="6B6B65"/>
                </a:solidFill>
                <a:latin typeface="Inter"/>
              </a:rPr>
              <a:t>Bildunterschrift mit Inhalt, nicht mit Meta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34133" y="6495626"/>
            <a:ext cx="575733" cy="176106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/>
            <a:r>
              <a:rPr sz="800" b="0" i="0">
                <a:solidFill>
                  <a:srgbClr val="6B6B65"/>
                </a:solidFill>
                <a:latin typeface="Inter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402666" y="2995506"/>
            <a:ext cx="8466" cy="1327573"/>
          </a:xfrm>
          <a:prstGeom prst="rect">
            <a:avLst/>
          </a:prstGeom>
          <a:solidFill>
            <a:srgbClr val="C5C0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89333" y="2995506"/>
            <a:ext cx="8466" cy="1327573"/>
          </a:xfrm>
          <a:prstGeom prst="rect">
            <a:avLst/>
          </a:prstGeom>
          <a:solidFill>
            <a:srgbClr val="C5C0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wordmark-black-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5999" y="6495626"/>
            <a:ext cx="953346" cy="11853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15999" y="389466"/>
            <a:ext cx="4775200" cy="176106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800" b="0" i="0">
                <a:solidFill>
                  <a:srgbClr val="6B6B65"/>
                </a:solidFill>
                <a:latin typeface="Inter"/>
              </a:rPr>
              <a:t>01 / KAPITEL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15999" y="795866"/>
            <a:ext cx="10193866" cy="501226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3200" b="1" i="0">
                <a:solidFill>
                  <a:srgbClr val="1C1C1E"/>
                </a:solidFill>
                <a:latin typeface="Inter"/>
              </a:rPr>
              <a:t>Die drei Zahlen, die zählen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5999" y="3046306"/>
            <a:ext cx="3081866" cy="62992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4270" b="0" i="0">
                <a:solidFill>
                  <a:srgbClr val="1C1C1E"/>
                </a:solidFill>
                <a:latin typeface="Inter"/>
              </a:rPr>
              <a:t>27,3 Mio. 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5999" y="3777826"/>
            <a:ext cx="3632199" cy="176106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800" b="0" i="0">
                <a:solidFill>
                  <a:srgbClr val="6B6B65"/>
                </a:solidFill>
                <a:latin typeface="Inter"/>
              </a:rPr>
              <a:t>KENNZAHL 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5999" y="4021666"/>
            <a:ext cx="3081866" cy="25061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1070" b="0" i="0">
                <a:solidFill>
                  <a:srgbClr val="3D3D3A"/>
                </a:solidFill>
                <a:latin typeface="Inter"/>
              </a:rPr>
              <a:t>Ein Satz, der die Zahl einordnet.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5999" y="4712546"/>
            <a:ext cx="10193866" cy="176106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r"/>
            <a:r>
              <a:rPr sz="800" b="0" i="0">
                <a:solidFill>
                  <a:srgbClr val="6B6B65"/>
                </a:solidFill>
                <a:latin typeface="Inter"/>
              </a:rPr>
              <a:t>Quelle: … in einem Satz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03213" y="6466839"/>
            <a:ext cx="3928533" cy="176106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800" b="1" i="0">
                <a:solidFill>
                  <a:srgbClr val="1C1C1E"/>
                </a:solidFill>
                <a:latin typeface="Inter"/>
              </a:rPr>
              <a:t>Kunde Projekttitel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49800" y="3046306"/>
            <a:ext cx="2734733" cy="62992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4270" b="0" i="0">
                <a:solidFill>
                  <a:srgbClr val="1C1C1E"/>
                </a:solidFill>
                <a:latin typeface="Inter"/>
              </a:rPr>
              <a:t>+8,2 %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49800" y="3777826"/>
            <a:ext cx="3285066" cy="176106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800" b="0" i="0">
                <a:solidFill>
                  <a:srgbClr val="6B6B65"/>
                </a:solidFill>
                <a:latin typeface="Inter"/>
              </a:rPr>
              <a:t>KENNZAHL 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49800" y="4021666"/>
            <a:ext cx="2734733" cy="25061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1070" b="0" i="0">
                <a:solidFill>
                  <a:srgbClr val="3D3D3A"/>
                </a:solidFill>
                <a:latin typeface="Inter"/>
              </a:rPr>
              <a:t>Ein Satz, der die Zahl einordnet.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36466" y="3046306"/>
            <a:ext cx="2734733" cy="62992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4270" b="0" i="0">
                <a:solidFill>
                  <a:srgbClr val="1C1C1E"/>
                </a:solidFill>
                <a:latin typeface="Inter"/>
              </a:rPr>
              <a:t>56 %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36466" y="3777826"/>
            <a:ext cx="3886199" cy="176106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800" b="0" i="0">
                <a:solidFill>
                  <a:srgbClr val="6B6B65"/>
                </a:solidFill>
                <a:latin typeface="Inter"/>
              </a:rPr>
              <a:t>KENNZAHL 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36466" y="4021666"/>
            <a:ext cx="2734733" cy="25061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1070" b="0" i="0">
                <a:solidFill>
                  <a:srgbClr val="3D3D3A"/>
                </a:solidFill>
                <a:latin typeface="Inter"/>
              </a:rPr>
              <a:t>Ein Satz, der die Zahl einordnet.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34133" y="6495626"/>
            <a:ext cx="575733" cy="176106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/>
            <a:r>
              <a:rPr sz="800" b="0" i="0">
                <a:solidFill>
                  <a:srgbClr val="6B6B65"/>
                </a:solidFill>
                <a:latin typeface="Inter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15999" y="2997200"/>
            <a:ext cx="4809066" cy="8466"/>
          </a:xfrm>
          <a:prstGeom prst="rect">
            <a:avLst/>
          </a:prstGeom>
          <a:solidFill>
            <a:srgbClr val="C5C0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366933" y="2997200"/>
            <a:ext cx="4809066" cy="8466"/>
          </a:xfrm>
          <a:prstGeom prst="rect">
            <a:avLst/>
          </a:prstGeom>
          <a:solidFill>
            <a:srgbClr val="C5C0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15999" y="4136813"/>
            <a:ext cx="4809066" cy="8466"/>
          </a:xfrm>
          <a:prstGeom prst="rect">
            <a:avLst/>
          </a:prstGeom>
          <a:solidFill>
            <a:srgbClr val="C5C0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366933" y="4136813"/>
            <a:ext cx="4809066" cy="8466"/>
          </a:xfrm>
          <a:prstGeom prst="rect">
            <a:avLst/>
          </a:prstGeom>
          <a:solidFill>
            <a:srgbClr val="C5C0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wordmark-black-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5999" y="6495626"/>
            <a:ext cx="953346" cy="11853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15999" y="389466"/>
            <a:ext cx="4775200" cy="176106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800" b="0" i="0">
                <a:solidFill>
                  <a:srgbClr val="6B6B65"/>
                </a:solidFill>
                <a:latin typeface="Inter"/>
              </a:rPr>
              <a:t>01 / KAPITEL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5999" y="795866"/>
            <a:ext cx="10193866" cy="501226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3200" b="1" i="0">
                <a:solidFill>
                  <a:srgbClr val="1C1C1E"/>
                </a:solidFill>
                <a:latin typeface="Inter"/>
              </a:rPr>
              <a:t>Vier Aspekte, ein System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5999" y="3496733"/>
            <a:ext cx="4842933" cy="25061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1070" b="0" i="0">
                <a:solidFill>
                  <a:srgbClr val="3D3D3A"/>
                </a:solidFill>
                <a:latin typeface="Inter"/>
              </a:rPr>
              <a:t>Ein bis zwei Sätze, was das konkret heißt.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5999" y="4636346"/>
            <a:ext cx="4842933" cy="25061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1070" b="0" i="0">
                <a:solidFill>
                  <a:srgbClr val="3D3D3A"/>
                </a:solidFill>
                <a:latin typeface="Inter"/>
              </a:rPr>
              <a:t>Ein bis zwei Sätze, was das konkret heißt.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03213" y="6466839"/>
            <a:ext cx="3928533" cy="176106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800" b="1" i="0">
                <a:solidFill>
                  <a:srgbClr val="1C1C1E"/>
                </a:solidFill>
                <a:latin typeface="Inter"/>
              </a:rPr>
              <a:t>Kunde Projekttitel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8793" y="4263813"/>
            <a:ext cx="1120140" cy="27093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1330" b="0" i="0">
                <a:solidFill>
                  <a:srgbClr val="1C1C1E"/>
                </a:solidFill>
                <a:latin typeface="Inter"/>
              </a:rPr>
              <a:t>Dritter Aspekt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65886" y="3124200"/>
            <a:ext cx="1093046" cy="27093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1330" b="0" i="0">
                <a:solidFill>
                  <a:srgbClr val="1C1C1E"/>
                </a:solidFill>
                <a:latin typeface="Inter"/>
              </a:rPr>
              <a:t>Erster Aspekt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66933" y="3496733"/>
            <a:ext cx="4842933" cy="25061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1070" b="0" i="0">
                <a:solidFill>
                  <a:srgbClr val="3D3D3A"/>
                </a:solidFill>
                <a:latin typeface="Inter"/>
              </a:rPr>
              <a:t>Ein bis zwei Sätze, was das konkret heißt.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66933" y="4636346"/>
            <a:ext cx="4842933" cy="25061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1070" b="0" i="0">
                <a:solidFill>
                  <a:srgbClr val="3D3D3A"/>
                </a:solidFill>
                <a:latin typeface="Inter"/>
              </a:rPr>
              <a:t>Ein bis zwei Sätze, was das konkret heißt.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90666" y="3124200"/>
            <a:ext cx="1219200" cy="27093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1330" b="0" i="0">
                <a:solidFill>
                  <a:srgbClr val="1C1C1E"/>
                </a:solidFill>
                <a:latin typeface="Inter"/>
              </a:rPr>
              <a:t>Zweiter Aspekt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48239" y="4263813"/>
            <a:ext cx="1161626" cy="270933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1330" b="0" i="0">
                <a:solidFill>
                  <a:srgbClr val="1C1C1E"/>
                </a:solidFill>
                <a:latin typeface="Inter"/>
              </a:rPr>
              <a:t>Vierter Aspekt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34133" y="6495626"/>
            <a:ext cx="575733" cy="176106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/>
            <a:r>
              <a:rPr sz="800" b="0" i="0">
                <a:solidFill>
                  <a:srgbClr val="6B6B65"/>
                </a:solidFill>
                <a:latin typeface="Inter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15999" y="3248659"/>
            <a:ext cx="4876800" cy="8466"/>
          </a:xfrm>
          <a:prstGeom prst="rect">
            <a:avLst/>
          </a:prstGeom>
          <a:solidFill>
            <a:srgbClr val="C5C0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299200" y="3248659"/>
            <a:ext cx="4876800" cy="8466"/>
          </a:xfrm>
          <a:prstGeom prst="rect">
            <a:avLst/>
          </a:prstGeom>
          <a:solidFill>
            <a:srgbClr val="C5C0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wordmark-black-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5999" y="6495626"/>
            <a:ext cx="953346" cy="11853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15999" y="389466"/>
            <a:ext cx="4775200" cy="176106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800" b="0" i="0">
                <a:solidFill>
                  <a:srgbClr val="6B6B65"/>
                </a:solidFill>
                <a:latin typeface="Inter"/>
              </a:rPr>
              <a:t>01 / KAPITEL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15999" y="795866"/>
            <a:ext cx="8331199" cy="501226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3200" b="1" i="0">
                <a:solidFill>
                  <a:srgbClr val="1C1C1E"/>
                </a:solidFill>
                <a:latin typeface="Inter"/>
              </a:rPr>
              <a:t>Zwei Seiten derselben Sache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5999" y="3389206"/>
            <a:ext cx="4436533" cy="176106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800" b="0" i="0">
                <a:solidFill>
                  <a:srgbClr val="6B6B65"/>
                </a:solidFill>
                <a:latin typeface="Inter"/>
              </a:rPr>
              <a:t>BLICKWINKEL 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5999" y="3680459"/>
            <a:ext cx="4910666" cy="95504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1070" b="0" i="0">
                <a:solidFill>
                  <a:srgbClr val="3D3D3A"/>
                </a:solidFill>
                <a:latin typeface="Inter"/>
              </a:rPr>
              <a:t>Erster Punkt als ganzer Satz.</a:t>
            </a:r>
          </a:p>
          <a:p>
            <a:pPr>
              <a:spcBef>
                <a:spcPts val="1070"/>
              </a:spcBef>
            </a:pPr>
            <a:r>
              <a:rPr sz="1070" b="0" i="0">
                <a:solidFill>
                  <a:srgbClr val="3D3D3A"/>
                </a:solidFill>
                <a:latin typeface="Inter"/>
              </a:rPr>
              <a:t>Zweiter Punkt als ganzer Satz.</a:t>
            </a:r>
          </a:p>
          <a:p>
            <a:pPr>
              <a:spcBef>
                <a:spcPts val="1070"/>
              </a:spcBef>
            </a:pPr>
            <a:r>
              <a:rPr sz="1070" b="0" i="0">
                <a:solidFill>
                  <a:srgbClr val="3D3D3A"/>
                </a:solidFill>
                <a:latin typeface="Inter"/>
              </a:rPr>
              <a:t>Dritter Punkt als ganzer Satz.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03213" y="6466839"/>
            <a:ext cx="3928533" cy="176106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800" b="1" i="0">
                <a:solidFill>
                  <a:srgbClr val="1C1C1E"/>
                </a:solidFill>
                <a:latin typeface="Inter"/>
              </a:rPr>
              <a:t>Kunde Projekttitel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99200" y="3389206"/>
            <a:ext cx="4436533" cy="176106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800" b="0" i="0">
                <a:solidFill>
                  <a:srgbClr val="6B6B65"/>
                </a:solidFill>
                <a:latin typeface="Inter"/>
              </a:rPr>
              <a:t>BLICKWINKEL 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99200" y="3680459"/>
            <a:ext cx="4910666" cy="95504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1070" b="0" i="0">
                <a:solidFill>
                  <a:srgbClr val="3D3D3A"/>
                </a:solidFill>
                <a:latin typeface="Inter"/>
              </a:rPr>
              <a:t>Erster Punkt als ganzer Satz.</a:t>
            </a:r>
          </a:p>
          <a:p>
            <a:pPr>
              <a:spcBef>
                <a:spcPts val="1070"/>
              </a:spcBef>
            </a:pPr>
            <a:r>
              <a:rPr sz="1070" b="0" i="0">
                <a:solidFill>
                  <a:srgbClr val="3D3D3A"/>
                </a:solidFill>
                <a:latin typeface="Inter"/>
              </a:rPr>
              <a:t>Zweiter Punkt als ganzer Satz.</a:t>
            </a:r>
          </a:p>
          <a:p>
            <a:pPr>
              <a:spcBef>
                <a:spcPts val="1070"/>
              </a:spcBef>
            </a:pPr>
            <a:r>
              <a:rPr sz="1070" b="0" i="0">
                <a:solidFill>
                  <a:srgbClr val="3D3D3A"/>
                </a:solidFill>
                <a:latin typeface="Inter"/>
              </a:rPr>
              <a:t>Dritter Punkt als ganzer Satz.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34133" y="6495626"/>
            <a:ext cx="575733" cy="176106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/>
            <a:r>
              <a:rPr sz="800" b="0" i="0">
                <a:solidFill>
                  <a:srgbClr val="6B6B65"/>
                </a:solidFill>
                <a:latin typeface="Inter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wordmark-black-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5999" y="6495626"/>
            <a:ext cx="953346" cy="11853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15999" y="389466"/>
            <a:ext cx="4775200" cy="176106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800" b="0" i="0">
                <a:solidFill>
                  <a:srgbClr val="6B6B65"/>
                </a:solidFill>
                <a:latin typeface="Inter"/>
              </a:rPr>
              <a:t>01 / KAPITEL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5999" y="795866"/>
            <a:ext cx="10193866" cy="501226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3200" b="1" i="0">
                <a:solidFill>
                  <a:srgbClr val="1C1C1E"/>
                </a:solidFill>
                <a:latin typeface="Inter"/>
              </a:rPr>
              <a:t>Vier Werkzeuge, ein 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6933" y="2392680"/>
            <a:ext cx="3420533" cy="562186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1600" b="0" i="0">
                <a:solidFill>
                  <a:srgbClr val="1C1C1E"/>
                </a:solidFill>
                <a:latin typeface="Inter"/>
              </a:rPr>
              <a:t>Statement des ersten Dings in einer Zeile.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6933" y="3366346"/>
            <a:ext cx="4470400" cy="211666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930" b="0" i="0">
                <a:solidFill>
                  <a:srgbClr val="3D3D3A"/>
                </a:solidFill>
                <a:latin typeface="Inter"/>
              </a:rPr>
              <a:t>Produktname 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6933" y="4289213"/>
            <a:ext cx="3420533" cy="562186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1600" b="0" i="0">
                <a:solidFill>
                  <a:srgbClr val="1C1C1E"/>
                </a:solidFill>
                <a:latin typeface="Inter"/>
              </a:rPr>
              <a:t>Statement des dritten Dings in einer Zeile.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6933" y="5262880"/>
            <a:ext cx="4470400" cy="211666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930" b="0" i="0">
                <a:solidFill>
                  <a:srgbClr val="3D3D3A"/>
                </a:solidFill>
                <a:latin typeface="Inter"/>
              </a:rPr>
              <a:t>Produktname 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03213" y="6466839"/>
            <a:ext cx="3928533" cy="176106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800" b="1" i="0">
                <a:solidFill>
                  <a:srgbClr val="1C1C1E"/>
                </a:solidFill>
                <a:latin typeface="Inter"/>
              </a:rPr>
              <a:t>Kunde Projekttitel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8533" y="2392680"/>
            <a:ext cx="3420533" cy="562186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1600" b="0" i="0">
                <a:solidFill>
                  <a:srgbClr val="1C1C1E"/>
                </a:solidFill>
                <a:latin typeface="Inter"/>
              </a:rPr>
              <a:t>Statement des zweiten Dings in einer Zeile.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68533" y="3366346"/>
            <a:ext cx="4470400" cy="211666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930" b="0" i="0">
                <a:solidFill>
                  <a:srgbClr val="3D3D3A"/>
                </a:solidFill>
                <a:latin typeface="Inter"/>
              </a:rPr>
              <a:t>Produktname 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68533" y="4289213"/>
            <a:ext cx="3420533" cy="562186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1600" b="0" i="0">
                <a:solidFill>
                  <a:srgbClr val="1C1C1E"/>
                </a:solidFill>
                <a:latin typeface="Inter"/>
              </a:rPr>
              <a:t>Statement des vierten Dings in einer Zeile.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68533" y="5262880"/>
            <a:ext cx="4470400" cy="211666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930" b="0" i="0">
                <a:solidFill>
                  <a:srgbClr val="3D3D3A"/>
                </a:solidFill>
                <a:latin typeface="Inter"/>
              </a:rPr>
              <a:t>Produktname 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34133" y="6495626"/>
            <a:ext cx="575733" cy="176106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/>
            <a:r>
              <a:rPr sz="800" b="0" i="0">
                <a:solidFill>
                  <a:srgbClr val="6B6B65"/>
                </a:solidFill>
                <a:latin typeface="Inter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wordmark-black-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5999" y="6495626"/>
            <a:ext cx="953346" cy="11853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15999" y="389466"/>
            <a:ext cx="4775200" cy="176106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800" b="0" i="0">
                <a:solidFill>
                  <a:srgbClr val="6B6B65"/>
                </a:solidFill>
                <a:latin typeface="Inter"/>
              </a:rPr>
              <a:t>01 / KAPITEL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5999" y="795866"/>
            <a:ext cx="8500533" cy="968586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3200" b="1" i="0">
                <a:solidFill>
                  <a:srgbClr val="1C1C1E"/>
                </a:solidFill>
                <a:latin typeface="Inter"/>
              </a:rPr>
              <a:t>Vier Punkte, die jetzt aktiv gesteuert werden müssen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15999" y="5511800"/>
            <a:ext cx="10193866" cy="176106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r"/>
            <a:r>
              <a:rPr sz="800" b="0" i="0">
                <a:solidFill>
                  <a:srgbClr val="6B6B65"/>
                </a:solidFill>
                <a:latin typeface="Inter"/>
              </a:rPr>
              <a:t>Quellen: … in einem Satz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19200" y="2849880"/>
            <a:ext cx="2015066" cy="62992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4270" b="0" i="0">
                <a:solidFill>
                  <a:srgbClr val="4A2D6B"/>
                </a:solidFill>
                <a:latin typeface="Inter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19200" y="3581399"/>
            <a:ext cx="2015066" cy="12446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1330" b="0" i="0">
                <a:solidFill>
                  <a:srgbClr val="1C1C1E"/>
                </a:solidFill>
                <a:latin typeface="Inter"/>
              </a:rPr>
              <a:t>Erster Punkt als ganzer Satz</a:t>
            </a:r>
          </a:p>
          <a:p>
            <a:pPr>
              <a:spcBef>
                <a:spcPts val="800"/>
              </a:spcBef>
            </a:pPr>
            <a:r>
              <a:rPr sz="930" b="0" i="0">
                <a:solidFill>
                  <a:srgbClr val="3D3D3A"/>
                </a:solidFill>
                <a:latin typeface="Inter"/>
              </a:rPr>
              <a:t>Zwei bis drei Sätze, die den Punkt tragen und belegen.</a:t>
            </a:r>
          </a:p>
          <a:p>
            <a:pPr>
              <a:spcBef>
                <a:spcPts val="800"/>
              </a:spcBef>
            </a:pPr>
            <a:r>
              <a:rPr sz="930" b="0" i="0">
                <a:solidFill>
                  <a:srgbClr val="6B6B65"/>
                </a:solidFill>
                <a:latin typeface="Inter"/>
              </a:rPr>
              <a:t>Indikator oder Beleg in einem Satz.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03213" y="6466839"/>
            <a:ext cx="3928533" cy="176106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800" b="1" i="0">
                <a:solidFill>
                  <a:srgbClr val="1C1C1E"/>
                </a:solidFill>
                <a:latin typeface="Inter"/>
              </a:rPr>
              <a:t>Kunde Projekttitel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09999" y="2849880"/>
            <a:ext cx="2015066" cy="62992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4270" b="0" i="0">
                <a:solidFill>
                  <a:srgbClr val="1D6B66"/>
                </a:solidFill>
                <a:latin typeface="Inter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09999" y="3581399"/>
            <a:ext cx="2015066" cy="14224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1330" b="0" i="0">
                <a:solidFill>
                  <a:srgbClr val="1C1C1E"/>
                </a:solidFill>
                <a:latin typeface="Inter"/>
              </a:rPr>
              <a:t>Zweiter Punkt als ganzer Satz</a:t>
            </a:r>
          </a:p>
          <a:p>
            <a:pPr>
              <a:spcBef>
                <a:spcPts val="800"/>
              </a:spcBef>
            </a:pPr>
            <a:r>
              <a:rPr sz="930" b="0" i="0">
                <a:solidFill>
                  <a:srgbClr val="3D3D3A"/>
                </a:solidFill>
                <a:latin typeface="Inter"/>
              </a:rPr>
              <a:t>Zwei bis drei Sätze, die den Punkt tragen.</a:t>
            </a:r>
          </a:p>
          <a:p>
            <a:pPr>
              <a:spcBef>
                <a:spcPts val="800"/>
              </a:spcBef>
            </a:pPr>
            <a:r>
              <a:rPr sz="930" b="0" i="1">
                <a:solidFill>
                  <a:srgbClr val="3D3D3A"/>
                </a:solidFill>
                <a:latin typeface="Inter"/>
              </a:rPr>
              <a:t>„Wörtliches Zitat als Beleg." — Rolle, Kontext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849880"/>
            <a:ext cx="2015066" cy="62992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4270" b="0" i="0">
                <a:solidFill>
                  <a:srgbClr val="1C1C1E"/>
                </a:solidFill>
                <a:latin typeface="Inter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3581399"/>
            <a:ext cx="2015066" cy="965199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1330" b="0" i="0">
                <a:solidFill>
                  <a:srgbClr val="1C1C1E"/>
                </a:solidFill>
                <a:latin typeface="Inter"/>
              </a:rPr>
              <a:t>Dritter Punkt als ganzer Satz</a:t>
            </a:r>
          </a:p>
          <a:p>
            <a:pPr>
              <a:spcBef>
                <a:spcPts val="800"/>
              </a:spcBef>
            </a:pPr>
            <a:r>
              <a:rPr sz="930" b="0" i="0">
                <a:solidFill>
                  <a:srgbClr val="3D3D3A"/>
                </a:solidFill>
                <a:latin typeface="Inter"/>
              </a:rPr>
              <a:t>Zwei bis drei Sätze, die den Punkt tragen.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91600" y="2849880"/>
            <a:ext cx="2015066" cy="62992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4270" b="0" i="0">
                <a:solidFill>
                  <a:srgbClr val="1C1C1E"/>
                </a:solidFill>
                <a:latin typeface="Inter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91600" y="3581399"/>
            <a:ext cx="2015066" cy="965199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1330" b="0" i="0">
                <a:solidFill>
                  <a:srgbClr val="1C1C1E"/>
                </a:solidFill>
                <a:latin typeface="Inter"/>
              </a:rPr>
              <a:t>Vierter Punkt als ganzer Satz</a:t>
            </a:r>
          </a:p>
          <a:p>
            <a:pPr>
              <a:spcBef>
                <a:spcPts val="800"/>
              </a:spcBef>
            </a:pPr>
            <a:r>
              <a:rPr sz="930" b="0" i="0">
                <a:solidFill>
                  <a:srgbClr val="3D3D3A"/>
                </a:solidFill>
                <a:latin typeface="Inter"/>
              </a:rPr>
              <a:t>Zwei bis drei Sätze, die den Punkt tragen.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34133" y="6495626"/>
            <a:ext cx="575733" cy="176106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/>
            <a:r>
              <a:rPr sz="800" b="0" i="0">
                <a:solidFill>
                  <a:srgbClr val="6B6B65"/>
                </a:solidFill>
                <a:latin typeface="Inter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15999" y="3155526"/>
            <a:ext cx="1979506" cy="8466"/>
          </a:xfrm>
          <a:prstGeom prst="rect">
            <a:avLst/>
          </a:prstGeom>
          <a:solidFill>
            <a:srgbClr val="C5C0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995506" y="3155526"/>
            <a:ext cx="4606713" cy="8466"/>
          </a:xfrm>
          <a:prstGeom prst="rect">
            <a:avLst/>
          </a:prstGeom>
          <a:solidFill>
            <a:srgbClr val="C5C0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601373" y="3155526"/>
            <a:ext cx="2214880" cy="8466"/>
          </a:xfrm>
          <a:prstGeom prst="rect">
            <a:avLst/>
          </a:prstGeom>
          <a:solidFill>
            <a:srgbClr val="C5C0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816253" y="3155526"/>
            <a:ext cx="1359746" cy="8466"/>
          </a:xfrm>
          <a:prstGeom prst="rect">
            <a:avLst/>
          </a:prstGeom>
          <a:solidFill>
            <a:srgbClr val="C5C0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5999" y="3651673"/>
            <a:ext cx="1979506" cy="8466"/>
          </a:xfrm>
          <a:prstGeom prst="rect">
            <a:avLst/>
          </a:prstGeom>
          <a:solidFill>
            <a:srgbClr val="C5C0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995506" y="3651673"/>
            <a:ext cx="4606713" cy="8466"/>
          </a:xfrm>
          <a:prstGeom prst="rect">
            <a:avLst/>
          </a:prstGeom>
          <a:solidFill>
            <a:srgbClr val="C5C0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1373" y="3651673"/>
            <a:ext cx="2214880" cy="8466"/>
          </a:xfrm>
          <a:prstGeom prst="rect">
            <a:avLst/>
          </a:prstGeom>
          <a:solidFill>
            <a:srgbClr val="C5C0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816253" y="3651673"/>
            <a:ext cx="1359746" cy="8466"/>
          </a:xfrm>
          <a:prstGeom prst="rect">
            <a:avLst/>
          </a:prstGeom>
          <a:solidFill>
            <a:srgbClr val="C5C0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15999" y="4147820"/>
            <a:ext cx="1979506" cy="8466"/>
          </a:xfrm>
          <a:prstGeom prst="rect">
            <a:avLst/>
          </a:prstGeom>
          <a:solidFill>
            <a:srgbClr val="C5C0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995506" y="4147820"/>
            <a:ext cx="4606713" cy="8466"/>
          </a:xfrm>
          <a:prstGeom prst="rect">
            <a:avLst/>
          </a:prstGeom>
          <a:solidFill>
            <a:srgbClr val="C5C0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1373" y="4147820"/>
            <a:ext cx="2214880" cy="8466"/>
          </a:xfrm>
          <a:prstGeom prst="rect">
            <a:avLst/>
          </a:prstGeom>
          <a:solidFill>
            <a:srgbClr val="C5C0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816253" y="4147820"/>
            <a:ext cx="1359746" cy="8466"/>
          </a:xfrm>
          <a:prstGeom prst="rect">
            <a:avLst/>
          </a:prstGeom>
          <a:solidFill>
            <a:srgbClr val="C5C0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15999" y="4643966"/>
            <a:ext cx="1979506" cy="8466"/>
          </a:xfrm>
          <a:prstGeom prst="rect">
            <a:avLst/>
          </a:prstGeom>
          <a:solidFill>
            <a:srgbClr val="C5C0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995506" y="4643966"/>
            <a:ext cx="4606713" cy="8466"/>
          </a:xfrm>
          <a:prstGeom prst="rect">
            <a:avLst/>
          </a:prstGeom>
          <a:solidFill>
            <a:srgbClr val="C5C0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1373" y="4643966"/>
            <a:ext cx="2214880" cy="8466"/>
          </a:xfrm>
          <a:prstGeom prst="rect">
            <a:avLst/>
          </a:prstGeom>
          <a:solidFill>
            <a:srgbClr val="C5C0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816253" y="4643966"/>
            <a:ext cx="1359746" cy="8466"/>
          </a:xfrm>
          <a:prstGeom prst="rect">
            <a:avLst/>
          </a:prstGeom>
          <a:solidFill>
            <a:srgbClr val="C5C0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wordmark-black-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5999" y="6495626"/>
            <a:ext cx="953346" cy="118533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015999" y="389466"/>
            <a:ext cx="4775200" cy="176106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800" b="0" i="0">
                <a:solidFill>
                  <a:srgbClr val="6B6B65"/>
                </a:solidFill>
                <a:latin typeface="Inter"/>
              </a:rPr>
              <a:t>02 / KPIS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5999" y="795866"/>
            <a:ext cx="10193866" cy="501226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3200" b="1" i="0">
                <a:solidFill>
                  <a:srgbClr val="1C1C1E"/>
                </a:solidFill>
                <a:latin typeface="Inter"/>
              </a:rPr>
              <a:t>Woran ihr uns messt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5999" y="2788919"/>
            <a:ext cx="2013373" cy="383539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800" b="0" i="0">
                <a:solidFill>
                  <a:srgbClr val="6B6B65"/>
                </a:solidFill>
                <a:latin typeface="Inter"/>
              </a:rPr>
              <a:t>DIMENSION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5999" y="3138593"/>
            <a:ext cx="2013373" cy="1522306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1070" b="0" i="0">
                <a:solidFill>
                  <a:srgbClr val="6B6B65"/>
                </a:solidFill>
                <a:latin typeface="Inter"/>
              </a:rPr>
              <a:t>Dimension A</a:t>
            </a:r>
          </a:p>
          <a:p>
            <a:r>
              <a:rPr sz="1070" b="0" i="0">
                <a:solidFill>
                  <a:srgbClr val="6B6B65"/>
                </a:solidFill>
                <a:latin typeface="Inter"/>
              </a:rPr>
              <a:t>Dimension B</a:t>
            </a:r>
          </a:p>
          <a:p>
            <a:r>
              <a:rPr sz="1070" b="0" i="0">
                <a:solidFill>
                  <a:srgbClr val="6B6B65"/>
                </a:solidFill>
                <a:latin typeface="Inter"/>
              </a:rPr>
              <a:t>Dimension 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5999" y="4902200"/>
            <a:ext cx="10193866" cy="176106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r"/>
            <a:r>
              <a:rPr sz="800" b="0" i="0">
                <a:solidFill>
                  <a:srgbClr val="6B6B65"/>
                </a:solidFill>
                <a:latin typeface="Inter"/>
              </a:rPr>
              <a:t>Quelle: … in einem Satz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03213" y="6466839"/>
            <a:ext cx="3928533" cy="176106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800" b="1" i="0">
                <a:solidFill>
                  <a:srgbClr val="1C1C1E"/>
                </a:solidFill>
                <a:latin typeface="Inter"/>
              </a:rPr>
              <a:t>Kunde Projekttitel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95506" y="2788919"/>
            <a:ext cx="4640580" cy="383539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800" b="0" i="0">
                <a:solidFill>
                  <a:srgbClr val="6B6B65"/>
                </a:solidFill>
                <a:latin typeface="Inter"/>
              </a:rPr>
              <a:t>MESSGRÖSSE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995506" y="3138593"/>
            <a:ext cx="4640580" cy="1522306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1070" b="0" i="0">
                <a:solidFill>
                  <a:srgbClr val="1C1C1E"/>
                </a:solidFill>
                <a:latin typeface="Inter"/>
              </a:rPr>
              <a:t>Messgröße als ganzer Ausdruck</a:t>
            </a:r>
          </a:p>
          <a:p>
            <a:r>
              <a:rPr sz="1070" b="0" i="0">
                <a:solidFill>
                  <a:srgbClr val="1C1C1E"/>
                </a:solidFill>
                <a:latin typeface="Inter"/>
              </a:rPr>
              <a:t>Messgröße</a:t>
            </a:r>
          </a:p>
          <a:p>
            <a:r>
              <a:rPr sz="1070" b="0" i="0">
                <a:solidFill>
                  <a:srgbClr val="1C1C1E"/>
                </a:solidFill>
                <a:latin typeface="Inter"/>
              </a:rPr>
              <a:t>Messgröße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01373" y="2788919"/>
            <a:ext cx="2248746" cy="383539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800" b="0" i="0">
                <a:solidFill>
                  <a:srgbClr val="6B6B65"/>
                </a:solidFill>
                <a:latin typeface="Inter"/>
              </a:rPr>
              <a:t>HEUTE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01373" y="3138593"/>
            <a:ext cx="2248746" cy="1522306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1070" b="0" i="0">
                <a:solidFill>
                  <a:srgbClr val="3D3D3A"/>
                </a:solidFill>
                <a:latin typeface="Inter"/>
              </a:rPr>
              <a:t>Ausgangswert</a:t>
            </a:r>
          </a:p>
          <a:p>
            <a:r>
              <a:rPr sz="1070" b="0" i="0">
                <a:solidFill>
                  <a:srgbClr val="3D3D3A"/>
                </a:solidFill>
                <a:latin typeface="Inter"/>
              </a:rPr>
              <a:t>Ausgangswert</a:t>
            </a:r>
          </a:p>
          <a:p>
            <a:r>
              <a:rPr sz="1070" b="0" i="0">
                <a:solidFill>
                  <a:srgbClr val="3D3D3A"/>
                </a:solidFill>
                <a:latin typeface="Inter"/>
              </a:rPr>
              <a:t>Ausgangswert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816253" y="2788919"/>
            <a:ext cx="2206413" cy="383539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800" b="0" i="0">
                <a:solidFill>
                  <a:srgbClr val="6B6B65"/>
                </a:solidFill>
                <a:latin typeface="Inter"/>
              </a:rPr>
              <a:t>ZIEL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816253" y="3138593"/>
            <a:ext cx="1393613" cy="1522306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1070" b="0" i="0">
                <a:solidFill>
                  <a:srgbClr val="4A2D6B"/>
                </a:solidFill>
                <a:latin typeface="Inter"/>
              </a:rPr>
              <a:t>Zielwert</a:t>
            </a:r>
          </a:p>
          <a:p>
            <a:r>
              <a:rPr sz="1070" b="0" i="0">
                <a:solidFill>
                  <a:srgbClr val="4A2D6B"/>
                </a:solidFill>
                <a:latin typeface="Inter"/>
              </a:rPr>
              <a:t>Zielwert</a:t>
            </a:r>
          </a:p>
          <a:p>
            <a:r>
              <a:rPr sz="1070" b="0" i="0">
                <a:solidFill>
                  <a:srgbClr val="4A2D6B"/>
                </a:solidFill>
                <a:latin typeface="Inter"/>
              </a:rPr>
              <a:t>Zielwert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634133" y="6495626"/>
            <a:ext cx="575733" cy="176106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/>
            <a:r>
              <a:rPr sz="800" b="0" i="0">
                <a:solidFill>
                  <a:srgbClr val="6B6B65"/>
                </a:solidFill>
                <a:latin typeface="Inter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wordmark-black-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5999" y="6495626"/>
            <a:ext cx="953346" cy="11853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15999" y="389466"/>
            <a:ext cx="4775200" cy="176106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800" b="0" i="0">
                <a:solidFill>
                  <a:srgbClr val="6B6B65"/>
                </a:solidFill>
                <a:latin typeface="Inter"/>
              </a:rPr>
              <a:t>01 / KAPITEL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5999" y="795866"/>
            <a:ext cx="8500533" cy="968586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3200" b="1" i="0">
                <a:solidFill>
                  <a:srgbClr val="1C1C1E"/>
                </a:solidFill>
                <a:latin typeface="Inter"/>
              </a:rPr>
              <a:t>Erst die Setup-Phase, dann die priorisierten Wellen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03213" y="6466839"/>
            <a:ext cx="3928533" cy="176106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800" b="1" i="0">
                <a:solidFill>
                  <a:srgbClr val="1C1C1E"/>
                </a:solidFill>
                <a:latin typeface="Inter"/>
              </a:rPr>
              <a:t>Kunde Projekttitel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34133" y="6495626"/>
            <a:ext cx="575733" cy="176106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/>
            <a:r>
              <a:rPr sz="800" b="0" i="0">
                <a:solidFill>
                  <a:srgbClr val="6B6B65"/>
                </a:solidFill>
                <a:latin typeface="Inter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-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799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15999" y="2277533"/>
            <a:ext cx="9177866" cy="1822026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4270" b="0" i="1">
                <a:solidFill>
                  <a:srgbClr val="F5F1EB"/>
                </a:solidFill>
                <a:latin typeface="Inter"/>
              </a:rPr>
              <a:t>„Ein Satz aus einem echten Gespräch, der die Slide trägt — wörtlich, nicht geglättet."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5999" y="4404360"/>
            <a:ext cx="9177866" cy="176106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sz="800" b="0" i="0">
                <a:solidFill>
                  <a:srgbClr val="A8A69E"/>
                </a:solidFill>
                <a:latin typeface="Inter"/>
              </a:rPr>
              <a:t>VORNAME, ROLLE — KONTEXT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-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7999"/>
          </a:xfrm>
          <a:prstGeom prst="rect">
            <a:avLst/>
          </a:prstGeom>
        </p:spPr>
      </p:pic>
      <p:pic>
        <p:nvPicPr>
          <p:cNvPr id="3" name="Picture 2" descr="wordmark-white-cr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78966" y="2381673"/>
            <a:ext cx="1634066" cy="203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171700" y="3109806"/>
            <a:ext cx="7881619" cy="62992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ctr"/>
            <a:r>
              <a:rPr sz="4270" b="1" i="0">
                <a:solidFill>
                  <a:srgbClr val="F5F1EB"/>
                </a:solidFill>
                <a:latin typeface="Inter"/>
              </a:rPr>
              <a:t>Startklar, sobald ihr das Go gebt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995333" y="4247726"/>
            <a:ext cx="2235200" cy="462279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ctr"/>
            <a:r>
              <a:rPr sz="1070" b="0" i="0">
                <a:solidFill>
                  <a:srgbClr val="F5F1EB"/>
                </a:solidFill>
                <a:latin typeface="Inter"/>
              </a:rPr>
              <a:t>Vorname Nachname, Rolle</a:t>
            </a:r>
          </a:p>
          <a:p>
            <a:pPr algn="ctr">
              <a:spcBef>
                <a:spcPts val="270"/>
              </a:spcBef>
            </a:pPr>
            <a:r>
              <a:rPr sz="930" b="0" i="0">
                <a:solidFill>
                  <a:srgbClr val="AF94D2"/>
                </a:solidFill>
                <a:latin typeface="Inter"/>
              </a:rPr>
              <a:t>vorname.nachname@bridgemaker.com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